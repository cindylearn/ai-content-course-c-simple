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【NLP·框架预设(presupposition)】开场就把结果当既定事实说——'带走一整套能自己跑的系统'，预设学员一定能建成，降低防御。停顿两秒再讲话，用视觉先锚定'系统'这个词。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Ver B 独有：先以 CMO 身份用框架做战略诊断与规划，再进教学版的搭建流程；结课后数据优化+汇报，闭环。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Ver B 4 步闭环。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【NLP·痛点前置 + 对比框(contrast frame)】先承认学员的现状(会工具)，制造'但是'的落差。'先讲痛，再讲光'——先把痛点讲透，情绪到位，后面给方案才有拉力。语速放慢。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【NLP·对比框 + 损失厌恶】左惨右好，视觉对齐。左边故意用学员的真实挫败感('回去还是不知道发什么')。核心信息只有一句：卖方法论，不卖工具。这句要重复三次。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【NLP·未来预演(future pacing)】'想象走出教室的时候'——让学员在脑中先体验拥有系统的状态，把未来的收益变成现在的画面。用现在进行时描述，指着卡片一张张讲。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【NLP·隐喻(metaphor)】用身体做隐喻:大脑(决策)/双手(生产)/神经(自动化)。隐喻让抽象系统变得可感、好记。下一页展开这三层。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【NLP·组块化(chunking)】把复杂系统压成 3 个块,人脑一次只能记 3-4 块。每层一句话讲清'它负责什么'。这三层就是全课的骨架。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【NLP·yes-set + 差异化锚定】6 个技能学员大多认可(点头),先建立一连串'对'。然后把'搭成系统'定位成唯一差异点——'别人给不了的'制造稀缺。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【NLP·降低进入门槛】强调'免费''门槛低',消除'我做不到'的内在异议。工具不神秘,神秘的是怎么把它们连成系统——这正是课程价值。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【NLP·可行性拆解】大目标让人畏难,拆成 Session 就有掌控感。口号:一次一步。反复强调'每节走出教室都多一件成品'——即时反馈。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【NLP·进度可视化】一眼看到全程,制造'快到终点'的推动力。颜色编码:橙=地基,青=6技能,蓝=生产线,深=结课。讲的时候手指从上往下滑一遍。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【NLP·可预测结构降低焦虑】每节结构一样,学员知道会发生什么,安全感提升,学得更放松。'铁律'用命令句式(embedded command):先跑通1条再放量。这是全课最该被记住的一句操作原则。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【NLP·奠基仪式感】第0节不出成品,但要讲成'最重要的一节'——地基。让学员认真填品牌资料。用'喂'这个动词,把系统拟人化成需要喂养的伙伴。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【NLP·节奏一致 + 累积成就】六节结构相同,每节都以'交付物'收尾。橙色那列是学员最在意的——他们带走的东西。讲的时候强调:六节结束,你手上已有6件真产物。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【NLP·从会到能复制】关键转折:前面是'会做一个',这里是'能重复做一百个'。反复讲'跑通 1 条再复制'——这是系统化的核心动作。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【NLP·完成闭环 + 身份转变】结课=学员身份从'学工具的人'变成'拥有系统的人'。深色背景制造仪式感高潮。'系统会长大'——留下持续价值的想象。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【NLP·赋能框(empowerment)】把 AI 定位成学员的下属('执行力'),学员是老板('判断力')。消除'AI 会取代我'的恐惧,换成'我指挥 AI'的掌控感。这 8 条是学员回去后的操作守则。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【NLP·回指开场(callback)】结尾这句和封面同一句,首尾呼应,把整场收成一个完整回路。打勾清单=有形收获感。让学员心里默数'我会有5样东西'。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【NLP·行动预设 + 稀缺】'轮到你了'预设学员已决定参加,只差行动。'名额有限'(合规:不写具体数字)制造稀缺。结尾把报名说成'把自己带进教室'——低压力、画面化的 CTA。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2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56032"/>
          </a:xfrm>
          <a:prstGeom prst="rect">
            <a:avLst/>
          </a:prstGeom>
          <a:solidFill>
            <a:srgbClr val="28C2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256032"/>
            <a:ext cx="12191695" cy="91440"/>
          </a:xfrm>
          <a:prstGeom prst="rect">
            <a:avLst/>
          </a:prstGeom>
          <a:solidFill>
            <a:srgbClr val="0F75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73736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1" i="0">
                <a:solidFill>
                  <a:srgbClr val="28C2E7"/>
                </a:solidFill>
                <a:latin typeface="Arial"/>
                <a:ea typeface="PingFang SC"/>
                <a:cs typeface="PingFang SC"/>
              </a:rPr>
              <a:t>线下实操课 · 一步一个 Session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286000"/>
            <a:ext cx="106070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4600" b="1" i="0">
                <a:solidFill>
                  <a:srgbClr val="FFFFFF"/>
                </a:solidFill>
                <a:latin typeface="Arial"/>
                <a:ea typeface="PingFang SC"/>
                <a:cs typeface="PingFang SC"/>
              </a:rPr>
              <a:t>把 6 个 AI 技能，</a:t>
            </a:r>
          </a:p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4600" b="1" i="0">
                <a:solidFill>
                  <a:srgbClr val="FFFFFF"/>
                </a:solidFill>
                <a:latin typeface="Arial"/>
                <a:ea typeface="PingFang SC"/>
                <a:cs typeface="PingFang SC"/>
              </a:rPr>
              <a:t>搭成你自己的一站式</a:t>
            </a:r>
          </a:p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5400" b="1" i="0">
                <a:solidFill>
                  <a:srgbClr val="FCB040"/>
                </a:solidFill>
                <a:latin typeface="Arial"/>
                <a:ea typeface="PingFang SC"/>
                <a:cs typeface="PingFang SC"/>
              </a:rPr>
              <a:t>AI 内容营销系统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07492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700" b="0" i="0">
                <a:solidFill>
                  <a:srgbClr val="E3F2F9"/>
                </a:solidFill>
                <a:latin typeface="Arial"/>
                <a:ea typeface="PingFang SC"/>
                <a:cs typeface="PingFang SC"/>
              </a:rPr>
              <a:t>不是学会一个工具 —— 是带走一整套能自己跑的系统。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94360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200" b="1" i="0">
                <a:solidFill>
                  <a:srgbClr val="28C2E7"/>
                </a:solidFill>
                <a:latin typeface="Arial"/>
                <a:ea typeface="PingFang SC"/>
                <a:cs typeface="PingFang SC"/>
              </a:rPr>
              <a:t>AI内容课 · 战略版VerB · 通用全行业（SUMA College 示范案例）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56032"/>
          </a:xfrm>
          <a:prstGeom prst="rect">
            <a:avLst/>
          </a:prstGeom>
          <a:solidFill>
            <a:srgbClr val="FCB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5029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400" b="1" i="0" spc="300">
                <a:solidFill>
                  <a:srgbClr val="FCB040"/>
                </a:solidFill>
                <a:latin typeface="Arial"/>
                <a:ea typeface="PingFang SC"/>
                <a:cs typeface="PingFang SC"/>
              </a:rPr>
              <a:t>VER B · 战略层（教学版没有）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932688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3000" b="1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你的身份：数据驱动的 CMO + 增长黑客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700784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350" b="0" i="0">
                <a:solidFill>
                  <a:srgbClr val="5B6B7A"/>
                </a:solidFill>
                <a:latin typeface="Arial"/>
                <a:ea typeface="PingFang SC"/>
                <a:cs typeface="PingFang SC"/>
              </a:rPr>
              <a:t>SUMA Marketing —— 融合 Kotler 价值创造 · Sean Ellis 增长思维 · Seth Godin 集客哲学 · Neil Patel 转化实战。不只是执行者，是你的业务增长伙伴。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2615184"/>
            <a:ext cx="10607040" cy="585216"/>
          </a:xfrm>
          <a:prstGeom prst="roundRect">
            <a:avLst>
              <a:gd name="adj" fmla="val 8000"/>
            </a:avLst>
          </a:prstGeom>
          <a:solidFill>
            <a:srgbClr val="E3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2706624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300" b="1" i="0">
                <a:solidFill>
                  <a:srgbClr val="0F75BC"/>
                </a:solidFill>
                <a:latin typeface="Arial"/>
                <a:ea typeface="PingFang SC"/>
                <a:cs typeface="PingFang SC"/>
              </a:rPr>
              <a:t>诊断问题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74720" y="2706624"/>
            <a:ext cx="7772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3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AARRR 漏斗 / 5A 旅程 → 定位流量与转化流失点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3291839"/>
            <a:ext cx="10607040" cy="585216"/>
          </a:xfrm>
          <a:prstGeom prst="roundRect">
            <a:avLst>
              <a:gd name="adj" fmla="val 8000"/>
            </a:avLst>
          </a:prstGeom>
          <a:solidFill>
            <a:srgbClr val="E3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3383279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300" b="1" i="0">
                <a:solidFill>
                  <a:srgbClr val="0F75BC"/>
                </a:solidFill>
                <a:latin typeface="Arial"/>
                <a:ea typeface="PingFang SC"/>
                <a:cs typeface="PingFang SC"/>
              </a:rPr>
              <a:t>规划策略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74720" y="3383279"/>
            <a:ext cx="7772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3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RACE → 全渠道营销漏斗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7240" y="3968496"/>
            <a:ext cx="10607040" cy="585216"/>
          </a:xfrm>
          <a:prstGeom prst="roundRect">
            <a:avLst>
              <a:gd name="adj" fmla="val 8000"/>
            </a:avLst>
          </a:prstGeom>
          <a:solidFill>
            <a:srgbClr val="E3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4059935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300" b="1" i="0">
                <a:solidFill>
                  <a:srgbClr val="0F75BC"/>
                </a:solidFill>
                <a:latin typeface="Arial"/>
                <a:ea typeface="PingFang SC"/>
                <a:cs typeface="PingFang SC"/>
              </a:rPr>
              <a:t>任务优先级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74720" y="4059935"/>
            <a:ext cx="7772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3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ICE（影响力 · 信心 · 难易度）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77240" y="4645152"/>
            <a:ext cx="10607040" cy="585216"/>
          </a:xfrm>
          <a:prstGeom prst="roundRect">
            <a:avLst>
              <a:gd name="adj" fmla="val 8000"/>
            </a:avLst>
          </a:prstGeom>
          <a:solidFill>
            <a:srgbClr val="E3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0120" y="4736592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300" b="1" i="0">
                <a:solidFill>
                  <a:srgbClr val="0F75BC"/>
                </a:solidFill>
                <a:latin typeface="Arial"/>
                <a:ea typeface="PingFang SC"/>
                <a:cs typeface="PingFang SC"/>
              </a:rPr>
              <a:t>受众洞察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74720" y="4736592"/>
            <a:ext cx="7772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3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定位理论 + RFM（最近 · 频率 · 金额）分层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77240" y="5321808"/>
            <a:ext cx="10607040" cy="585216"/>
          </a:xfrm>
          <a:prstGeom prst="roundRect">
            <a:avLst>
              <a:gd name="adj" fmla="val 8000"/>
            </a:avLst>
          </a:prstGeom>
          <a:solidFill>
            <a:srgbClr val="E3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60120" y="5413248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300" b="1" i="0">
                <a:solidFill>
                  <a:srgbClr val="0F75BC"/>
                </a:solidFill>
                <a:latin typeface="Arial"/>
                <a:ea typeface="PingFang SC"/>
                <a:cs typeface="PingFang SC"/>
              </a:rPr>
              <a:t>内容创作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474720" y="5413248"/>
            <a:ext cx="7772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3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AIDA 文案 · 图文封面逻辑 · 短视频前 3 秒 Hook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6419088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900" b="0" i="0">
                <a:solidFill>
                  <a:srgbClr val="5B6B7A"/>
                </a:solidFill>
                <a:latin typeface="Arial"/>
                <a:ea typeface="PingFang SC"/>
                <a:cs typeface="PingFang SC"/>
              </a:rPr>
              <a:t>SUMA College · AI 内容营销系统 线下实操课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881360" y="6419088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2000"/>
              </a:lnSpc>
              <a:spcAft>
                <a:spcPts val="600"/>
              </a:spcAft>
            </a:pPr>
            <a:r>
              <a:rPr sz="900" b="0" i="0">
                <a:solidFill>
                  <a:srgbClr val="5B6B7A"/>
                </a:solidFill>
                <a:latin typeface="Arial"/>
                <a:ea typeface="PingFang SC"/>
                <a:cs typeface="PingFang SC"/>
              </a:rPr>
              <a:t>B1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56032"/>
          </a:xfrm>
          <a:prstGeom prst="rect">
            <a:avLst/>
          </a:prstGeom>
          <a:solidFill>
            <a:srgbClr val="0F75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5029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400" b="1" i="0" spc="300">
                <a:solidFill>
                  <a:srgbClr val="0F75BC"/>
                </a:solidFill>
                <a:latin typeface="Arial"/>
                <a:ea typeface="PingFang SC"/>
                <a:cs typeface="PingFang SC"/>
              </a:rPr>
              <a:t>VER B · 工作流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932688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3000" b="1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4 步闭环：诊断 → 搭建 → 优化 → 再诊断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2103120"/>
            <a:ext cx="2121408" cy="2468880"/>
          </a:xfrm>
          <a:prstGeom prst="roundRect">
            <a:avLst>
              <a:gd name="adj" fmla="val 8000"/>
            </a:avLst>
          </a:prstGeom>
          <a:solidFill>
            <a:srgbClr val="E3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103120"/>
            <a:ext cx="2121408" cy="109728"/>
          </a:xfrm>
          <a:prstGeom prst="rect">
            <a:avLst/>
          </a:prstGeom>
          <a:solidFill>
            <a:srgbClr val="FCB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5256" y="2395728"/>
            <a:ext cx="1865376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500" b="1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① 诊断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05256" y="3108960"/>
            <a:ext cx="1865376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00" b="0" i="0">
                <a:solidFill>
                  <a:srgbClr val="5B6B7A"/>
                </a:solidFill>
                <a:latin typeface="Arial"/>
                <a:ea typeface="PingFang SC"/>
                <a:cs typeface="PingFang SC"/>
              </a:rPr>
              <a:t>AARRR/5A 找流失点 · 要 KPI · RFM 分层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008376" y="2103120"/>
            <a:ext cx="2121408" cy="2468880"/>
          </a:xfrm>
          <a:prstGeom prst="roundRect">
            <a:avLst>
              <a:gd name="adj" fmla="val 8000"/>
            </a:avLst>
          </a:prstGeom>
          <a:solidFill>
            <a:srgbClr val="E3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008376" y="2103120"/>
            <a:ext cx="2121408" cy="109728"/>
          </a:xfrm>
          <a:prstGeom prst="rect">
            <a:avLst/>
          </a:prstGeom>
          <a:solidFill>
            <a:srgbClr val="28C2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136392" y="2395728"/>
            <a:ext cx="1865376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500" b="1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② 规划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36392" y="3108960"/>
            <a:ext cx="1865376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00" b="0" i="0">
                <a:solidFill>
                  <a:srgbClr val="5B6B7A"/>
                </a:solidFill>
                <a:latin typeface="Arial"/>
                <a:ea typeface="PingFang SC"/>
                <a:cs typeface="PingFang SC"/>
              </a:rPr>
              <a:t>RACE 漏斗 · ICE 排优先级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239512" y="2103120"/>
            <a:ext cx="2121408" cy="2468880"/>
          </a:xfrm>
          <a:prstGeom prst="roundRect">
            <a:avLst>
              <a:gd name="adj" fmla="val 8000"/>
            </a:avLst>
          </a:prstGeom>
          <a:solidFill>
            <a:srgbClr val="E3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239512" y="2103120"/>
            <a:ext cx="2121408" cy="109728"/>
          </a:xfrm>
          <a:prstGeom prst="rect">
            <a:avLst/>
          </a:prstGeom>
          <a:solidFill>
            <a:srgbClr val="0F75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67528" y="2395728"/>
            <a:ext cx="1865376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500" b="1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③ 搭建=教学版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67528" y="3108960"/>
            <a:ext cx="1865376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00" b="0" i="0">
                <a:solidFill>
                  <a:srgbClr val="5B6B7A"/>
                </a:solidFill>
                <a:latin typeface="Arial"/>
                <a:ea typeface="PingFang SC"/>
                <a:cs typeface="PingFang SC"/>
              </a:rPr>
              <a:t>Session 0–10 · AIDA / 短视频 Hook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470648" y="2103120"/>
            <a:ext cx="2121408" cy="2468880"/>
          </a:xfrm>
          <a:prstGeom prst="roundRect">
            <a:avLst>
              <a:gd name="adj" fmla="val 8000"/>
            </a:avLst>
          </a:prstGeom>
          <a:solidFill>
            <a:srgbClr val="E3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470648" y="2103120"/>
            <a:ext cx="2121408" cy="109728"/>
          </a:xfrm>
          <a:prstGeom prst="rect">
            <a:avLst/>
          </a:prstGeom>
          <a:solidFill>
            <a:srgbClr val="28C2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598664" y="2395728"/>
            <a:ext cx="1865376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500" b="1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④ 数据优化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598664" y="3108960"/>
            <a:ext cx="1865376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00" b="0" i="0">
                <a:solidFill>
                  <a:srgbClr val="5B6B7A"/>
                </a:solidFill>
                <a:latin typeface="Arial"/>
                <a:ea typeface="PingFang SC"/>
                <a:cs typeface="PingFang SC"/>
              </a:rPr>
              <a:t>A/B · Cohort · 跨渠道归因 · 自动出价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701784" y="2103120"/>
            <a:ext cx="2121408" cy="2468880"/>
          </a:xfrm>
          <a:prstGeom prst="roundRect">
            <a:avLst>
              <a:gd name="adj" fmla="val 8000"/>
            </a:avLst>
          </a:prstGeom>
          <a:solidFill>
            <a:srgbClr val="E3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701784" y="2103120"/>
            <a:ext cx="2121408" cy="109728"/>
          </a:xfrm>
          <a:prstGeom prst="rect">
            <a:avLst/>
          </a:prstGeom>
          <a:solidFill>
            <a:srgbClr val="FCB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829800" y="2395728"/>
            <a:ext cx="1865376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500" b="1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⑤ 专业汇报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829800" y="3108960"/>
            <a:ext cx="1865376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00" b="0" i="0">
                <a:solidFill>
                  <a:srgbClr val="5B6B7A"/>
                </a:solidFill>
                <a:latin typeface="Arial"/>
                <a:ea typeface="PingFang SC"/>
                <a:cs typeface="PingFang SC"/>
              </a:rPr>
              <a:t>粗体/项目符号/标题 · 结尾抛问题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" y="4937760"/>
            <a:ext cx="10607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600" b="1" i="0">
                <a:solidFill>
                  <a:srgbClr val="0F75BC"/>
                </a:solidFill>
                <a:latin typeface="Arial"/>
                <a:ea typeface="PingFang SC"/>
                <a:cs typeface="PingFang SC"/>
              </a:rPr>
              <a:t>优化完回到「① 诊断」→ 持续迭代闭环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2920" y="6419088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900" b="0" i="0">
                <a:solidFill>
                  <a:srgbClr val="5B6B7A"/>
                </a:solidFill>
                <a:latin typeface="Arial"/>
                <a:ea typeface="PingFang SC"/>
                <a:cs typeface="PingFang SC"/>
              </a:rPr>
              <a:t>SUMA College · AI 内容营销系统 线下实操课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881360" y="6419088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2000"/>
              </a:lnSpc>
              <a:spcAft>
                <a:spcPts val="600"/>
              </a:spcAft>
            </a:pPr>
            <a:r>
              <a:rPr sz="900" b="0" i="0">
                <a:solidFill>
                  <a:srgbClr val="5B6B7A"/>
                </a:solidFill>
                <a:latin typeface="Arial"/>
                <a:ea typeface="PingFang SC"/>
                <a:cs typeface="PingFang SC"/>
              </a:rPr>
              <a:t>B2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75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FCB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01168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200" b="1" i="0">
                <a:solidFill>
                  <a:srgbClr val="28C2E7"/>
                </a:solidFill>
                <a:latin typeface="Arial"/>
                <a:ea typeface="PingFang SC"/>
                <a:cs typeface="PingFang SC"/>
              </a:rPr>
              <a:t>WHY  ·  为什么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2514600"/>
            <a:ext cx="10058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6600" b="1" i="0">
                <a:solidFill>
                  <a:srgbClr val="FFFFFF"/>
                </a:solidFill>
                <a:latin typeface="Arial"/>
                <a:ea typeface="PingFang SC"/>
                <a:cs typeface="PingFang SC"/>
              </a:rPr>
              <a:t>先讲痛，再讲光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4297680"/>
            <a:ext cx="98755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2000" b="0" i="0">
                <a:solidFill>
                  <a:srgbClr val="E3F2F9"/>
                </a:solidFill>
                <a:latin typeface="Arial"/>
                <a:ea typeface="PingFang SC"/>
                <a:cs typeface="PingFang SC"/>
              </a:rPr>
              <a:t>你已经会用 AI 工具了 —— 为什么还是做不出稳定、能卖的内容？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1280160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9000" b="1" i="0">
                <a:solidFill>
                  <a:srgbClr val="2E8BC9"/>
                </a:solidFill>
                <a:latin typeface="Arial"/>
                <a:ea typeface="PingFang SC"/>
                <a:cs typeface="PingFang SC"/>
              </a:rPr>
              <a:t>01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8C2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400" b="1" i="0" spc="300">
                <a:solidFill>
                  <a:srgbClr val="0F75BC"/>
                </a:solidFill>
                <a:latin typeface="Arial"/>
                <a:ea typeface="PingFang SC"/>
                <a:cs typeface="PingFang SC"/>
              </a:rPr>
              <a:t>WHY · 真正缺的不是工具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86868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3400" b="1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市场卖你「工具」，你缺的是「方法」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011680"/>
            <a:ext cx="5212080" cy="3840480"/>
          </a:xfrm>
          <a:prstGeom prst="roundRect">
            <a:avLst>
              <a:gd name="adj" fmla="val 8000"/>
            </a:avLst>
          </a:prstGeom>
          <a:solidFill>
            <a:srgbClr val="F4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309360" y="2011680"/>
            <a:ext cx="5212080" cy="3840480"/>
          </a:xfrm>
          <a:prstGeom prst="roundRect">
            <a:avLst>
              <a:gd name="adj" fmla="val 8000"/>
            </a:avLst>
          </a:prstGeom>
          <a:solidFill>
            <a:srgbClr val="E3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2011680"/>
            <a:ext cx="5212080" cy="109728"/>
          </a:xfrm>
          <a:prstGeom prst="rect">
            <a:avLst/>
          </a:prstGeom>
          <a:solidFill>
            <a:srgbClr val="5B6B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309360" y="2011680"/>
            <a:ext cx="5212080" cy="109728"/>
          </a:xfrm>
          <a:prstGeom prst="rect">
            <a:avLst/>
          </a:prstGeom>
          <a:solidFill>
            <a:srgbClr val="FCB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2331720"/>
            <a:ext cx="448056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1200"/>
              </a:spcAft>
            </a:pPr>
            <a:r>
              <a:rPr sz="2000" b="1" i="0">
                <a:solidFill>
                  <a:srgbClr val="5B6B7A"/>
                </a:solidFill>
                <a:latin typeface="Arial"/>
                <a:ea typeface="PingFang SC"/>
                <a:cs typeface="PingFang SC"/>
              </a:rPr>
              <a:t>外面的课</a:t>
            </a:r>
          </a:p>
          <a:p>
            <a:pPr algn="l">
              <a:lnSpc>
                <a:spcPct val="115000"/>
              </a:lnSpc>
              <a:spcAft>
                <a:spcPts val="1200"/>
              </a:spcAft>
            </a:pPr>
            <a:r>
              <a:rPr sz="16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✗  教你一个工具怎么点按钮</a:t>
            </a:r>
          </a:p>
          <a:p>
            <a:pPr algn="l">
              <a:lnSpc>
                <a:spcPct val="115000"/>
              </a:lnSpc>
              <a:spcAft>
                <a:spcPts val="1200"/>
              </a:spcAft>
            </a:pPr>
            <a:r>
              <a:rPr sz="16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✗  会了 Midjourney、会了剪辑</a:t>
            </a:r>
          </a:p>
          <a:p>
            <a:pPr algn="l">
              <a:lnSpc>
                <a:spcPct val="115000"/>
              </a:lnSpc>
              <a:spcAft>
                <a:spcPts val="1200"/>
              </a:spcAft>
            </a:pPr>
            <a:r>
              <a:rPr sz="16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✗  回去还是不知道做什么、发什么</a:t>
            </a:r>
          </a:p>
          <a:p>
            <a:pPr algn="l">
              <a:lnSpc>
                <a:spcPct val="115000"/>
              </a:lnSpc>
              <a:spcAft>
                <a:spcPts val="1200"/>
              </a:spcAft>
            </a:pPr>
            <a:r>
              <a:rPr sz="16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✗  工具一换，全部作废</a:t>
            </a:r>
          </a:p>
          <a:p>
            <a:pPr algn="l">
              <a:lnSpc>
                <a:spcPct val="115000"/>
              </a:lnSpc>
              <a:spcAft>
                <a:spcPts val="1200"/>
              </a:spcAft>
            </a:pPr>
            <a:r>
              <a:rPr sz="16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✗  始终是「散件」，拼不成生意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0" y="2331720"/>
            <a:ext cx="448056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1200"/>
              </a:spcAft>
            </a:pPr>
            <a:r>
              <a:rPr sz="2000" b="1" i="0">
                <a:solidFill>
                  <a:srgbClr val="0F75BC"/>
                </a:solidFill>
                <a:latin typeface="Arial"/>
                <a:ea typeface="PingFang SC"/>
                <a:cs typeface="PingFang SC"/>
              </a:rPr>
              <a:t>我们教的</a:t>
            </a:r>
          </a:p>
          <a:p>
            <a:pPr algn="l">
              <a:lnSpc>
                <a:spcPct val="115000"/>
              </a:lnSpc>
              <a:spcAft>
                <a:spcPts val="1200"/>
              </a:spcAft>
            </a:pPr>
            <a:r>
              <a:rPr sz="16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✓  教你「怎样用 AI 有效做出东西」</a:t>
            </a:r>
          </a:p>
          <a:p>
            <a:pPr algn="l">
              <a:lnSpc>
                <a:spcPct val="115000"/>
              </a:lnSpc>
              <a:spcAft>
                <a:spcPts val="1200"/>
              </a:spcAft>
            </a:pPr>
            <a:r>
              <a:rPr sz="16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✓  6 个技能串成一条生产线</a:t>
            </a:r>
          </a:p>
          <a:p>
            <a:pPr algn="l">
              <a:lnSpc>
                <a:spcPct val="115000"/>
              </a:lnSpc>
              <a:spcAft>
                <a:spcPts val="1200"/>
              </a:spcAft>
            </a:pPr>
            <a:r>
              <a:rPr sz="16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✓  有内容矩阵，永远知道下一条发什么</a:t>
            </a:r>
          </a:p>
          <a:p>
            <a:pPr algn="l">
              <a:lnSpc>
                <a:spcPct val="115000"/>
              </a:lnSpc>
              <a:spcAft>
                <a:spcPts val="1200"/>
              </a:spcAft>
            </a:pPr>
            <a:r>
              <a:rPr sz="16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✓  工具换了，方法和系统还在</a:t>
            </a:r>
          </a:p>
          <a:p>
            <a:pPr algn="l">
              <a:lnSpc>
                <a:spcPct val="115000"/>
              </a:lnSpc>
              <a:spcAft>
                <a:spcPts val="1200"/>
              </a:spcAft>
            </a:pPr>
            <a:r>
              <a:rPr sz="16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✓  带走一套能自己跑、能放量的系统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6419088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900" b="0" i="0">
                <a:solidFill>
                  <a:srgbClr val="5B6B7A"/>
                </a:solidFill>
                <a:latin typeface="Arial"/>
                <a:ea typeface="PingFang SC"/>
                <a:cs typeface="PingFang SC"/>
              </a:rPr>
              <a:t>SUMA College · AI 内容营销系统 线下实操课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19088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2000"/>
              </a:lnSpc>
              <a:spcAft>
                <a:spcPts val="600"/>
              </a:spcAft>
            </a:pPr>
            <a:r>
              <a:rPr sz="900" b="0" i="0">
                <a:solidFill>
                  <a:srgbClr val="5B6B7A"/>
                </a:solidFill>
                <a:latin typeface="Arial"/>
                <a:ea typeface="PingFang SC"/>
                <a:cs typeface="PingFang SC"/>
              </a:rPr>
              <a:t>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FCB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400" b="1" i="0" spc="300">
                <a:solidFill>
                  <a:srgbClr val="FCB040"/>
                </a:solidFill>
                <a:latin typeface="Arial"/>
                <a:ea typeface="PingFang SC"/>
                <a:cs typeface="PingFang SC"/>
              </a:rPr>
              <a:t>WHY · 结课那天的你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86868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3400" b="1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想象走出这间教室的时候 —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94560"/>
            <a:ext cx="2697480" cy="3383280"/>
          </a:xfrm>
          <a:prstGeom prst="roundRect">
            <a:avLst>
              <a:gd name="adj" fmla="val 8000"/>
            </a:avLst>
          </a:prstGeom>
          <a:solidFill>
            <a:srgbClr val="F4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2194560"/>
            <a:ext cx="2697480" cy="109728"/>
          </a:xfrm>
          <a:prstGeom prst="rect">
            <a:avLst/>
          </a:prstGeom>
          <a:solidFill>
            <a:srgbClr val="28C2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2514600"/>
            <a:ext cx="2185416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40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🧠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900" b="1" i="0">
                <a:solidFill>
                  <a:srgbClr val="0F75BC"/>
                </a:solidFill>
                <a:latin typeface="Arial"/>
                <a:ea typeface="PingFang SC"/>
                <a:cs typeface="PingFang SC"/>
              </a:rPr>
              <a:t>一张内容矩阵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400" b="0" i="0">
                <a:solidFill>
                  <a:srgbClr val="5B6B7A"/>
                </a:solidFill>
                <a:latin typeface="Arial"/>
                <a:ea typeface="PingFang SC"/>
                <a:cs typeface="PingFang SC"/>
              </a:rPr>
              <a:t>上百条内容排好队，永远知道下一条发什么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20440" y="2194560"/>
            <a:ext cx="2697480" cy="3383280"/>
          </a:xfrm>
          <a:prstGeom prst="roundRect">
            <a:avLst>
              <a:gd name="adj" fmla="val 8000"/>
            </a:avLst>
          </a:prstGeom>
          <a:solidFill>
            <a:srgbClr val="F4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520440" y="2194560"/>
            <a:ext cx="2697480" cy="109728"/>
          </a:xfrm>
          <a:prstGeom prst="rect">
            <a:avLst/>
          </a:prstGeom>
          <a:solidFill>
            <a:srgbClr val="28C2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776472" y="2514600"/>
            <a:ext cx="2185416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40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🎬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900" b="1" i="0">
                <a:solidFill>
                  <a:srgbClr val="0F75BC"/>
                </a:solidFill>
                <a:latin typeface="Arial"/>
                <a:ea typeface="PingFang SC"/>
                <a:cs typeface="PingFang SC"/>
              </a:rPr>
              <a:t>两条生产线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400" b="0" i="0">
                <a:solidFill>
                  <a:srgbClr val="5B6B7A"/>
                </a:solidFill>
                <a:latin typeface="Arial"/>
                <a:ea typeface="PingFang SC"/>
                <a:cs typeface="PingFang SC"/>
              </a:rPr>
              <a:t>图文一条、视频一条，能重复、能复制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0" y="2194560"/>
            <a:ext cx="2697480" cy="3383280"/>
          </a:xfrm>
          <a:prstGeom prst="roundRect">
            <a:avLst>
              <a:gd name="adj" fmla="val 8000"/>
            </a:avLst>
          </a:prstGeom>
          <a:solidFill>
            <a:srgbClr val="F4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00800" y="2194560"/>
            <a:ext cx="2697480" cy="109728"/>
          </a:xfrm>
          <a:prstGeom prst="rect">
            <a:avLst/>
          </a:prstGeom>
          <a:solidFill>
            <a:srgbClr val="28C2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56832" y="2514600"/>
            <a:ext cx="2185416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40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📦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900" b="1" i="0">
                <a:solidFill>
                  <a:srgbClr val="0F75BC"/>
                </a:solidFill>
                <a:latin typeface="Arial"/>
                <a:ea typeface="PingFang SC"/>
                <a:cs typeface="PingFang SC"/>
              </a:rPr>
              <a:t>6 件真产物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400" b="0" i="0">
                <a:solidFill>
                  <a:srgbClr val="5B6B7A"/>
                </a:solidFill>
                <a:latin typeface="Arial"/>
                <a:ea typeface="PingFang SC"/>
                <a:cs typeface="PingFang SC"/>
              </a:rPr>
              <a:t>文案 / 海报 / 数字人 / PPT / 配乐 / 短视频 各一件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281160" y="2194560"/>
            <a:ext cx="2697480" cy="3383280"/>
          </a:xfrm>
          <a:prstGeom prst="roundRect">
            <a:avLst>
              <a:gd name="adj" fmla="val 8000"/>
            </a:avLst>
          </a:prstGeom>
          <a:solidFill>
            <a:srgbClr val="F4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9281160" y="2194560"/>
            <a:ext cx="2697480" cy="109728"/>
          </a:xfrm>
          <a:prstGeom prst="rect">
            <a:avLst/>
          </a:prstGeom>
          <a:solidFill>
            <a:srgbClr val="28C2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537192" y="2514600"/>
            <a:ext cx="2185416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40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🚀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900" b="1" i="0">
                <a:solidFill>
                  <a:srgbClr val="0F75BC"/>
                </a:solidFill>
                <a:latin typeface="Arial"/>
                <a:ea typeface="PingFang SC"/>
                <a:cs typeface="PingFang SC"/>
              </a:rPr>
              <a:t>一套能放量的系统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400" b="0" i="0">
                <a:solidFill>
                  <a:srgbClr val="5B6B7A"/>
                </a:solidFill>
                <a:latin typeface="Arial"/>
                <a:ea typeface="PingFang SC"/>
                <a:cs typeface="PingFang SC"/>
              </a:rPr>
              <a:t>标个状态就自动生产，还能自己迭代记录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6419088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900" b="0" i="0">
                <a:solidFill>
                  <a:srgbClr val="5B6B7A"/>
                </a:solidFill>
                <a:latin typeface="Arial"/>
                <a:ea typeface="PingFang SC"/>
                <a:cs typeface="PingFang SC"/>
              </a:rPr>
              <a:t>SUMA College · AI 内容营销系统 线下实操课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881360" y="6419088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2000"/>
              </a:lnSpc>
              <a:spcAft>
                <a:spcPts val="600"/>
              </a:spcAft>
            </a:pPr>
            <a:r>
              <a:rPr sz="900" b="0" i="0">
                <a:solidFill>
                  <a:srgbClr val="5B6B7A"/>
                </a:solidFill>
                <a:latin typeface="Arial"/>
                <a:ea typeface="PingFang SC"/>
                <a:cs typeface="PingFang SC"/>
              </a:rPr>
              <a:t>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75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FCB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01168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200" b="1" i="0">
                <a:solidFill>
                  <a:srgbClr val="28C2E7"/>
                </a:solidFill>
                <a:latin typeface="Arial"/>
                <a:ea typeface="PingFang SC"/>
                <a:cs typeface="PingFang SC"/>
              </a:rPr>
              <a:t>WHAT · 你要搭的是什么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2514600"/>
            <a:ext cx="10058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6600" b="1" i="0">
                <a:solidFill>
                  <a:srgbClr val="FFFFFF"/>
                </a:solidFill>
                <a:latin typeface="Arial"/>
                <a:ea typeface="PingFang SC"/>
                <a:cs typeface="PingFang SC"/>
              </a:rPr>
              <a:t>一个会自己跑的系统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4297680"/>
            <a:ext cx="98755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2000" b="0" i="0">
                <a:solidFill>
                  <a:srgbClr val="E3F2F9"/>
                </a:solidFill>
                <a:latin typeface="Arial"/>
                <a:ea typeface="PingFang SC"/>
                <a:cs typeface="PingFang SC"/>
              </a:rPr>
              <a:t>不是零散的技巧集合 —— 是一套「大脑 + 双手 + 神经」协作的内容工厂。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1280160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9000" b="1" i="0">
                <a:solidFill>
                  <a:srgbClr val="2E8BC9"/>
                </a:solidFill>
                <a:latin typeface="Arial"/>
                <a:ea typeface="PingFang SC"/>
                <a:cs typeface="PingFang SC"/>
              </a:rPr>
              <a:t>02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F75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400" b="1" i="0" spc="300">
                <a:solidFill>
                  <a:srgbClr val="0F75BC"/>
                </a:solidFill>
                <a:latin typeface="Arial"/>
                <a:ea typeface="PingFang SC"/>
                <a:cs typeface="PingFang SC"/>
              </a:rPr>
              <a:t>WHAT · 系统的三层结构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86868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3000" b="1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一站式 AI 内容营销系统 = 大脑 + 双手 + 神经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965960"/>
            <a:ext cx="10881360" cy="1234440"/>
          </a:xfrm>
          <a:prstGeom prst="roundRect">
            <a:avLst>
              <a:gd name="adj" fmla="val 8000"/>
            </a:avLst>
          </a:prstGeom>
          <a:solidFill>
            <a:srgbClr val="F4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965960"/>
            <a:ext cx="146304" cy="1234440"/>
          </a:xfrm>
          <a:prstGeom prst="rect">
            <a:avLst/>
          </a:prstGeom>
          <a:solidFill>
            <a:srgbClr val="0F75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2130552"/>
            <a:ext cx="237744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600" b="1" i="0">
                <a:solidFill>
                  <a:srgbClr val="0F75BC"/>
                </a:solidFill>
                <a:latin typeface="Arial"/>
                <a:ea typeface="PingFang SC"/>
                <a:cs typeface="PingFang SC"/>
              </a:rPr>
              <a:t>🧠 大脑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383280" y="2093976"/>
            <a:ext cx="28346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900" b="1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内容矩阵（Notion）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63640" y="2148840"/>
            <a:ext cx="502920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 i="0">
                <a:solidFill>
                  <a:srgbClr val="5B6B7A"/>
                </a:solidFill>
                <a:latin typeface="Arial"/>
                <a:ea typeface="PingFang SC"/>
                <a:cs typeface="PingFang SC"/>
              </a:rPr>
              <a:t>受众 × 漏斗 × Hook 排成一张表，管上百条内容，决定做什么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401568"/>
            <a:ext cx="10881360" cy="1234440"/>
          </a:xfrm>
          <a:prstGeom prst="roundRect">
            <a:avLst>
              <a:gd name="adj" fmla="val 8000"/>
            </a:avLst>
          </a:prstGeom>
          <a:solidFill>
            <a:srgbClr val="F4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" y="3401568"/>
            <a:ext cx="146304" cy="1234440"/>
          </a:xfrm>
          <a:prstGeom prst="rect">
            <a:avLst/>
          </a:prstGeom>
          <a:solidFill>
            <a:srgbClr val="28C2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3566160"/>
            <a:ext cx="237744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600" b="1" i="0">
                <a:solidFill>
                  <a:srgbClr val="28C2E7"/>
                </a:solidFill>
                <a:latin typeface="Arial"/>
                <a:ea typeface="PingFang SC"/>
                <a:cs typeface="PingFang SC"/>
              </a:rPr>
              <a:t>✋ 双手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83280" y="3529584"/>
            <a:ext cx="28346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900" b="1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6 条 AI 生产线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63640" y="3584448"/>
            <a:ext cx="502920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 i="0">
                <a:solidFill>
                  <a:srgbClr val="5B6B7A"/>
                </a:solidFill>
                <a:latin typeface="Arial"/>
                <a:ea typeface="PingFang SC"/>
                <a:cs typeface="PingFang SC"/>
              </a:rPr>
              <a:t>文案 · 图像 · 数字人 · PPT · 音乐 · 影片 —— 把想法变成成品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837176"/>
            <a:ext cx="10881360" cy="1234440"/>
          </a:xfrm>
          <a:prstGeom prst="roundRect">
            <a:avLst>
              <a:gd name="adj" fmla="val 8000"/>
            </a:avLst>
          </a:prstGeom>
          <a:solidFill>
            <a:srgbClr val="F4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40080" y="4837176"/>
            <a:ext cx="146304" cy="1234440"/>
          </a:xfrm>
          <a:prstGeom prst="rect">
            <a:avLst/>
          </a:prstGeom>
          <a:solidFill>
            <a:srgbClr val="FCB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0120" y="5001768"/>
            <a:ext cx="237744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600" b="1" i="0">
                <a:solidFill>
                  <a:srgbClr val="FCB040"/>
                </a:solidFill>
                <a:latin typeface="Arial"/>
                <a:ea typeface="PingFang SC"/>
                <a:cs typeface="PingFang SC"/>
              </a:rPr>
              <a:t>⚡ 神经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383280" y="4965192"/>
            <a:ext cx="28346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900" b="1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自动化编排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63640" y="5020056"/>
            <a:ext cx="502920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 i="0">
                <a:solidFill>
                  <a:srgbClr val="5B6B7A"/>
                </a:solidFill>
                <a:latin typeface="Arial"/>
                <a:ea typeface="PingFang SC"/>
                <a:cs typeface="PingFang SC"/>
              </a:rPr>
              <a:t>标状态就生产、批量放量、push GitHub 记录，让系统自己转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6419088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900" b="0" i="0">
                <a:solidFill>
                  <a:srgbClr val="5B6B7A"/>
                </a:solidFill>
                <a:latin typeface="Arial"/>
                <a:ea typeface="PingFang SC"/>
                <a:cs typeface="PingFang SC"/>
              </a:rPr>
              <a:t>SUMA College · AI 内容营销系统 线下实操课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881360" y="6419088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2000"/>
              </a:lnSpc>
              <a:spcAft>
                <a:spcPts val="600"/>
              </a:spcAft>
            </a:pPr>
            <a:r>
              <a:rPr sz="900" b="0" i="0">
                <a:solidFill>
                  <a:srgbClr val="5B6B7A"/>
                </a:solidFill>
                <a:latin typeface="Arial"/>
                <a:ea typeface="PingFang SC"/>
                <a:cs typeface="PingFang SC"/>
              </a:rPr>
              <a:t>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8C2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400" b="1" i="0" spc="300">
                <a:solidFill>
                  <a:srgbClr val="0F75BC"/>
                </a:solidFill>
                <a:latin typeface="Arial"/>
                <a:ea typeface="PingFang SC"/>
                <a:cs typeface="PingFang SC"/>
              </a:rPr>
              <a:t>WHAT · 我们的差异化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86868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3000" b="1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先学 6 个 AI 技能，再把它们「搭成系统」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920240"/>
            <a:ext cx="3429000" cy="1051560"/>
          </a:xfrm>
          <a:prstGeom prst="roundRect">
            <a:avLst>
              <a:gd name="adj" fmla="val 8000"/>
            </a:avLst>
          </a:prstGeom>
          <a:solidFill>
            <a:srgbClr val="E3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920240"/>
            <a:ext cx="342900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2200" b="1" i="0">
                <a:solidFill>
                  <a:srgbClr val="0F75BC"/>
                </a:solidFill>
                <a:latin typeface="Arial"/>
                <a:ea typeface="PingFang SC"/>
                <a:cs typeface="PingFang SC"/>
              </a:rPr>
              <a:t>✍️ AI 文案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25112" y="1920240"/>
            <a:ext cx="3429000" cy="1051560"/>
          </a:xfrm>
          <a:prstGeom prst="roundRect">
            <a:avLst>
              <a:gd name="adj" fmla="val 8000"/>
            </a:avLst>
          </a:prstGeom>
          <a:solidFill>
            <a:srgbClr val="E3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325112" y="1920240"/>
            <a:ext cx="342900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2200" b="1" i="0">
                <a:solidFill>
                  <a:srgbClr val="0F75BC"/>
                </a:solidFill>
                <a:latin typeface="Arial"/>
                <a:ea typeface="PingFang SC"/>
                <a:cs typeface="PingFang SC"/>
              </a:rPr>
              <a:t>🖼️ AI 图像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10144" y="1920240"/>
            <a:ext cx="3429000" cy="1051560"/>
          </a:xfrm>
          <a:prstGeom prst="roundRect">
            <a:avLst>
              <a:gd name="adj" fmla="val 8000"/>
            </a:avLst>
          </a:prstGeom>
          <a:solidFill>
            <a:srgbClr val="E3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10144" y="1920240"/>
            <a:ext cx="342900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2200" b="1" i="0">
                <a:solidFill>
                  <a:srgbClr val="0F75BC"/>
                </a:solidFill>
                <a:latin typeface="Arial"/>
                <a:ea typeface="PingFang SC"/>
                <a:cs typeface="PingFang SC"/>
              </a:rPr>
              <a:t>🧑‍💼 AI 数字人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3227832"/>
            <a:ext cx="3429000" cy="1051560"/>
          </a:xfrm>
          <a:prstGeom prst="roundRect">
            <a:avLst>
              <a:gd name="adj" fmla="val 8000"/>
            </a:avLst>
          </a:prstGeom>
          <a:solidFill>
            <a:srgbClr val="E3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3227832"/>
            <a:ext cx="342900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2200" b="1" i="0">
                <a:solidFill>
                  <a:srgbClr val="0F75BC"/>
                </a:solidFill>
                <a:latin typeface="Arial"/>
                <a:ea typeface="PingFang SC"/>
                <a:cs typeface="PingFang SC"/>
              </a:rPr>
              <a:t>📊 AI PPT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25112" y="3227832"/>
            <a:ext cx="3429000" cy="1051560"/>
          </a:xfrm>
          <a:prstGeom prst="roundRect">
            <a:avLst>
              <a:gd name="adj" fmla="val 8000"/>
            </a:avLst>
          </a:prstGeom>
          <a:solidFill>
            <a:srgbClr val="E3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325112" y="3227832"/>
            <a:ext cx="342900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2200" b="1" i="0">
                <a:solidFill>
                  <a:srgbClr val="0F75BC"/>
                </a:solidFill>
                <a:latin typeface="Arial"/>
                <a:ea typeface="PingFang SC"/>
                <a:cs typeface="PingFang SC"/>
              </a:rPr>
              <a:t>🎵 AI 音乐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10144" y="3227832"/>
            <a:ext cx="3429000" cy="1051560"/>
          </a:xfrm>
          <a:prstGeom prst="roundRect">
            <a:avLst>
              <a:gd name="adj" fmla="val 8000"/>
            </a:avLst>
          </a:prstGeom>
          <a:solidFill>
            <a:srgbClr val="E3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10144" y="3227832"/>
            <a:ext cx="342900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2200" b="1" i="0">
                <a:solidFill>
                  <a:srgbClr val="0F75BC"/>
                </a:solidFill>
                <a:latin typeface="Arial"/>
                <a:ea typeface="PingFang SC"/>
                <a:cs typeface="PingFang SC"/>
              </a:rPr>
              <a:t>🎬 AI 影片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4709160"/>
            <a:ext cx="10881360" cy="1234440"/>
          </a:xfrm>
          <a:prstGeom prst="roundRect">
            <a:avLst>
              <a:gd name="adj" fmla="val 8000"/>
            </a:avLst>
          </a:prstGeom>
          <a:solidFill>
            <a:srgbClr val="0F75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4892040"/>
            <a:ext cx="1033272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2400" b="1" i="0">
                <a:solidFill>
                  <a:srgbClr val="FFFFFF"/>
                </a:solidFill>
                <a:latin typeface="Arial"/>
                <a:ea typeface="PingFang SC"/>
                <a:cs typeface="PingFang SC"/>
              </a:rPr>
              <a:t>⟶  一站式 AI 内容营销系统（这才是别人给不了的）</a:t>
            </a:r>
          </a:p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1400" b="0" i="0">
                <a:solidFill>
                  <a:srgbClr val="E3F2F9"/>
                </a:solidFill>
                <a:latin typeface="Arial"/>
                <a:ea typeface="PingFang SC"/>
                <a:cs typeface="PingFang SC"/>
              </a:rPr>
              <a:t>外面卖单个 skill；我们给你 template + md + skill，让你搭出自己的系统。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6419088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900" b="0" i="0">
                <a:solidFill>
                  <a:srgbClr val="5B6B7A"/>
                </a:solidFill>
                <a:latin typeface="Arial"/>
                <a:ea typeface="PingFang SC"/>
                <a:cs typeface="PingFang SC"/>
              </a:rPr>
              <a:t>SUMA College · AI 内容营销系统 线下实操课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881360" y="6419088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2000"/>
              </a:lnSpc>
              <a:spcAft>
                <a:spcPts val="600"/>
              </a:spcAft>
            </a:pPr>
            <a:r>
              <a:rPr sz="900" b="0" i="0">
                <a:solidFill>
                  <a:srgbClr val="5B6B7A"/>
                </a:solidFill>
                <a:latin typeface="Arial"/>
                <a:ea typeface="PingFang SC"/>
                <a:cs typeface="PingFang SC"/>
              </a:rPr>
              <a:t>7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FCB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400" b="1" i="0" spc="300">
                <a:solidFill>
                  <a:srgbClr val="FCB040"/>
                </a:solidFill>
                <a:latin typeface="Arial"/>
                <a:ea typeface="PingFang SC"/>
                <a:cs typeface="PingFang SC"/>
              </a:rPr>
              <a:t>WHAT · 真实工具栈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86868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3000" b="1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全套只用这几样 —— 门槛很低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48840"/>
            <a:ext cx="2084831" cy="3017520"/>
          </a:xfrm>
          <a:prstGeom prst="roundRect">
            <a:avLst>
              <a:gd name="adj" fmla="val 8000"/>
            </a:avLst>
          </a:prstGeom>
          <a:solidFill>
            <a:srgbClr val="F4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2148840"/>
            <a:ext cx="2084831" cy="109728"/>
          </a:xfrm>
          <a:prstGeom prst="rect">
            <a:avLst/>
          </a:prstGeom>
          <a:solidFill>
            <a:srgbClr val="28C2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560320"/>
            <a:ext cx="1719071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2000"/>
              </a:lnSpc>
              <a:spcAft>
                <a:spcPts val="1000"/>
              </a:spcAft>
            </a:pPr>
            <a:r>
              <a:rPr sz="2100" b="1" i="0">
                <a:solidFill>
                  <a:srgbClr val="0F75BC"/>
                </a:solidFill>
                <a:latin typeface="Arial"/>
                <a:ea typeface="PingFang SC"/>
                <a:cs typeface="PingFang SC"/>
              </a:rPr>
              <a:t>Notion</a:t>
            </a:r>
          </a:p>
          <a:p>
            <a:pPr algn="ctr">
              <a:lnSpc>
                <a:spcPct val="120000"/>
              </a:lnSpc>
              <a:spcAft>
                <a:spcPts val="1000"/>
              </a:spcAft>
            </a:pPr>
            <a:r>
              <a:rPr sz="15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内容矩阵大脑</a:t>
            </a:r>
          </a:p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1200" b="1" i="0">
                <a:solidFill>
                  <a:srgbClr val="FCB040"/>
                </a:solidFill>
                <a:latin typeface="Arial"/>
                <a:ea typeface="PingFang SC"/>
                <a:cs typeface="PingFang SC"/>
              </a:rPr>
              <a:t>免费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843783" y="2148840"/>
            <a:ext cx="2084831" cy="3017520"/>
          </a:xfrm>
          <a:prstGeom prst="roundRect">
            <a:avLst>
              <a:gd name="adj" fmla="val 8000"/>
            </a:avLst>
          </a:prstGeom>
          <a:solidFill>
            <a:srgbClr val="F4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843783" y="2148840"/>
            <a:ext cx="2084831" cy="109728"/>
          </a:xfrm>
          <a:prstGeom prst="rect">
            <a:avLst/>
          </a:prstGeom>
          <a:solidFill>
            <a:srgbClr val="28C2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026663" y="2560320"/>
            <a:ext cx="1719071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2000"/>
              </a:lnSpc>
              <a:spcAft>
                <a:spcPts val="1000"/>
              </a:spcAft>
            </a:pPr>
            <a:r>
              <a:rPr sz="2100" b="1" i="0">
                <a:solidFill>
                  <a:srgbClr val="0F75BC"/>
                </a:solidFill>
                <a:latin typeface="Arial"/>
                <a:ea typeface="PingFang SC"/>
                <a:cs typeface="PingFang SC"/>
              </a:rPr>
              <a:t>Claude</a:t>
            </a:r>
          </a:p>
          <a:p>
            <a:pPr algn="ctr">
              <a:lnSpc>
                <a:spcPct val="120000"/>
              </a:lnSpc>
              <a:spcAft>
                <a:spcPts val="1000"/>
              </a:spcAft>
            </a:pPr>
            <a:r>
              <a:rPr sz="15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总指挥 + 文案/PPT</a:t>
            </a:r>
          </a:p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1200" b="1" i="0">
                <a:solidFill>
                  <a:srgbClr val="FCB040"/>
                </a:solidFill>
                <a:latin typeface="Arial"/>
                <a:ea typeface="PingFang SC"/>
                <a:cs typeface="PingFang SC"/>
              </a:rPr>
              <a:t>Claude Code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47486" y="2148840"/>
            <a:ext cx="2084831" cy="3017520"/>
          </a:xfrm>
          <a:prstGeom prst="roundRect">
            <a:avLst>
              <a:gd name="adj" fmla="val 8000"/>
            </a:avLst>
          </a:prstGeom>
          <a:solidFill>
            <a:srgbClr val="F4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047486" y="2148840"/>
            <a:ext cx="2084831" cy="109728"/>
          </a:xfrm>
          <a:prstGeom prst="rect">
            <a:avLst/>
          </a:prstGeom>
          <a:solidFill>
            <a:srgbClr val="28C2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230366" y="2560320"/>
            <a:ext cx="1719071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2000"/>
              </a:lnSpc>
              <a:spcAft>
                <a:spcPts val="1000"/>
              </a:spcAft>
            </a:pPr>
            <a:r>
              <a:rPr sz="2100" b="1" i="0">
                <a:solidFill>
                  <a:srgbClr val="0F75BC"/>
                </a:solidFill>
                <a:latin typeface="Arial"/>
                <a:ea typeface="PingFang SC"/>
                <a:cs typeface="PingFang SC"/>
              </a:rPr>
              <a:t>Higgsfield</a:t>
            </a:r>
          </a:p>
          <a:p>
            <a:pPr algn="ctr">
              <a:lnSpc>
                <a:spcPct val="120000"/>
              </a:lnSpc>
              <a:spcAft>
                <a:spcPts val="1000"/>
              </a:spcAft>
            </a:pPr>
            <a:r>
              <a:rPr sz="15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图像 / 数字人 / 影片</a:t>
            </a:r>
          </a:p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1200" b="1" i="0">
                <a:solidFill>
                  <a:srgbClr val="FCB040"/>
                </a:solidFill>
                <a:latin typeface="Arial"/>
                <a:ea typeface="PingFang SC"/>
                <a:cs typeface="PingFang SC"/>
              </a:rPr>
              <a:t>AI 视觉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251189" y="2148840"/>
            <a:ext cx="2084831" cy="3017520"/>
          </a:xfrm>
          <a:prstGeom prst="roundRect">
            <a:avLst>
              <a:gd name="adj" fmla="val 8000"/>
            </a:avLst>
          </a:prstGeom>
          <a:solidFill>
            <a:srgbClr val="F4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251189" y="2148840"/>
            <a:ext cx="2084831" cy="109728"/>
          </a:xfrm>
          <a:prstGeom prst="rect">
            <a:avLst/>
          </a:prstGeom>
          <a:solidFill>
            <a:srgbClr val="28C2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34069" y="2560320"/>
            <a:ext cx="1719071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2000"/>
              </a:lnSpc>
              <a:spcAft>
                <a:spcPts val="1000"/>
              </a:spcAft>
            </a:pPr>
            <a:r>
              <a:rPr sz="2100" b="1" i="0">
                <a:solidFill>
                  <a:srgbClr val="0F75BC"/>
                </a:solidFill>
                <a:latin typeface="Arial"/>
                <a:ea typeface="PingFang SC"/>
                <a:cs typeface="PingFang SC"/>
              </a:rPr>
              <a:t>Suno</a:t>
            </a:r>
          </a:p>
          <a:p>
            <a:pPr algn="ctr">
              <a:lnSpc>
                <a:spcPct val="120000"/>
              </a:lnSpc>
              <a:spcAft>
                <a:spcPts val="1000"/>
              </a:spcAft>
            </a:pPr>
            <a:r>
              <a:rPr sz="15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背景配乐</a:t>
            </a:r>
          </a:p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1200" b="1" i="0">
                <a:solidFill>
                  <a:srgbClr val="FCB040"/>
                </a:solidFill>
                <a:latin typeface="Arial"/>
                <a:ea typeface="PingFang SC"/>
                <a:cs typeface="PingFang SC"/>
              </a:rPr>
              <a:t>AI 音乐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454892" y="2148840"/>
            <a:ext cx="2084831" cy="3017520"/>
          </a:xfrm>
          <a:prstGeom prst="roundRect">
            <a:avLst>
              <a:gd name="adj" fmla="val 8000"/>
            </a:avLst>
          </a:prstGeom>
          <a:solidFill>
            <a:srgbClr val="F4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9454892" y="2148840"/>
            <a:ext cx="2084831" cy="109728"/>
          </a:xfrm>
          <a:prstGeom prst="rect">
            <a:avLst/>
          </a:prstGeom>
          <a:solidFill>
            <a:srgbClr val="28C2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637772" y="2560320"/>
            <a:ext cx="1719071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2000"/>
              </a:lnSpc>
              <a:spcAft>
                <a:spcPts val="1000"/>
              </a:spcAft>
            </a:pPr>
            <a:r>
              <a:rPr sz="2100" b="1" i="0">
                <a:solidFill>
                  <a:srgbClr val="0F75BC"/>
                </a:solidFill>
                <a:latin typeface="Arial"/>
                <a:ea typeface="PingFang SC"/>
                <a:cs typeface="PingFang SC"/>
              </a:rPr>
              <a:t>GitHub</a:t>
            </a:r>
          </a:p>
          <a:p>
            <a:pPr algn="ctr">
              <a:lnSpc>
                <a:spcPct val="120000"/>
              </a:lnSpc>
              <a:spcAft>
                <a:spcPts val="1000"/>
              </a:spcAft>
            </a:pPr>
            <a:r>
              <a:rPr sz="15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版本记录 / 备份</a:t>
            </a:r>
          </a:p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1200" b="1" i="0">
                <a:solidFill>
                  <a:srgbClr val="FCB040"/>
                </a:solidFill>
                <a:latin typeface="Arial"/>
                <a:ea typeface="PingFang SC"/>
                <a:cs typeface="PingFang SC"/>
              </a:rPr>
              <a:t>免费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5440680"/>
            <a:ext cx="10881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500" b="0" i="0">
                <a:solidFill>
                  <a:srgbClr val="5B6B7A"/>
                </a:solidFill>
                <a:latin typeface="Arial"/>
                <a:ea typeface="PingFang SC"/>
                <a:cs typeface="PingFang SC"/>
              </a:rPr>
              <a:t>+ 一套 Claude skill 包（记忆系统 / ai-content-factory / 文案框架 / 视频框架）把它们连起来。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6419088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900" b="0" i="0">
                <a:solidFill>
                  <a:srgbClr val="5B6B7A"/>
                </a:solidFill>
                <a:latin typeface="Arial"/>
                <a:ea typeface="PingFang SC"/>
                <a:cs typeface="PingFang SC"/>
              </a:rPr>
              <a:t>SUMA College · AI 内容营销系统 线下实操课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881360" y="6419088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2000"/>
              </a:lnSpc>
              <a:spcAft>
                <a:spcPts val="600"/>
              </a:spcAft>
            </a:pPr>
            <a:r>
              <a:rPr sz="900" b="0" i="0">
                <a:solidFill>
                  <a:srgbClr val="5B6B7A"/>
                </a:solidFill>
                <a:latin typeface="Arial"/>
                <a:ea typeface="PingFang SC"/>
                <a:cs typeface="PingFang SC"/>
              </a:rPr>
              <a:t>8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75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FCB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01168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200" b="1" i="0">
                <a:solidFill>
                  <a:srgbClr val="28C2E7"/>
                </a:solidFill>
                <a:latin typeface="Arial"/>
                <a:ea typeface="PingFang SC"/>
                <a:cs typeface="PingFang SC"/>
              </a:rPr>
              <a:t>HOW · 怎么一步步搭起来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2514600"/>
            <a:ext cx="10058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6600" b="1" i="0">
                <a:solidFill>
                  <a:srgbClr val="FFFFFF"/>
                </a:solidFill>
                <a:latin typeface="Arial"/>
                <a:ea typeface="PingFang SC"/>
                <a:cs typeface="PingFang SC"/>
              </a:rPr>
              <a:t>一步一个 Session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4297680"/>
            <a:ext cx="98755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2000" b="0" i="0">
                <a:solidFill>
                  <a:srgbClr val="E3F2F9"/>
                </a:solidFill>
                <a:latin typeface="Arial"/>
                <a:ea typeface="PingFang SC"/>
                <a:cs typeface="PingFang SC"/>
              </a:rPr>
              <a:t>从喂地基 → 一节学会一个技能并当场做出产物 → 一节节拼成完整系统。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1280160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9000" b="1" i="0">
                <a:solidFill>
                  <a:srgbClr val="2E8BC9"/>
                </a:solidFill>
                <a:latin typeface="Arial"/>
                <a:ea typeface="PingFang SC"/>
                <a:cs typeface="PingFang SC"/>
              </a:rPr>
              <a:t>03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F75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45720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400" b="1" i="0" spc="300">
                <a:solidFill>
                  <a:srgbClr val="0F75BC"/>
                </a:solidFill>
                <a:latin typeface="Arial"/>
                <a:ea typeface="PingFang SC"/>
                <a:cs typeface="PingFang SC"/>
              </a:rPr>
              <a:t>HOW · 课程地图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8229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3000" b="1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Session 0 → 10：从地基到结课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2103120" cy="868680"/>
          </a:xfrm>
          <a:prstGeom prst="roundRect">
            <a:avLst>
              <a:gd name="adj" fmla="val 8000"/>
            </a:avLst>
          </a:prstGeom>
          <a:solidFill>
            <a:srgbClr val="FCB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783080"/>
            <a:ext cx="192024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2000"/>
              </a:lnSpc>
              <a:spcAft>
                <a:spcPts val="100"/>
              </a:spcAft>
            </a:pPr>
            <a:r>
              <a:rPr sz="1300" b="1" i="0">
                <a:solidFill>
                  <a:srgbClr val="FFFFFF"/>
                </a:solidFill>
                <a:latin typeface="Arial"/>
                <a:ea typeface="PingFang SC"/>
                <a:cs typeface="PingFang SC"/>
              </a:rPr>
              <a:t>Session 0</a:t>
            </a:r>
          </a:p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300" b="0" i="0">
                <a:solidFill>
                  <a:srgbClr val="FFFFFF"/>
                </a:solidFill>
                <a:latin typeface="Arial"/>
                <a:ea typeface="PingFang SC"/>
                <a:cs typeface="PingFang SC"/>
              </a:rPr>
              <a:t>喂地基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880360"/>
            <a:ext cx="1709928" cy="868680"/>
          </a:xfrm>
          <a:prstGeom prst="roundRect">
            <a:avLst>
              <a:gd name="adj" fmla="val 8000"/>
            </a:avLst>
          </a:prstGeom>
          <a:solidFill>
            <a:srgbClr val="28C2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2880360"/>
            <a:ext cx="1527048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2000"/>
              </a:lnSpc>
              <a:spcAft>
                <a:spcPts val="100"/>
              </a:spcAft>
            </a:pPr>
            <a:r>
              <a:rPr sz="1200" b="1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Session 1</a:t>
            </a:r>
          </a:p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AI文案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468880" y="2880360"/>
            <a:ext cx="1709928" cy="868680"/>
          </a:xfrm>
          <a:prstGeom prst="roundRect">
            <a:avLst>
              <a:gd name="adj" fmla="val 8000"/>
            </a:avLst>
          </a:prstGeom>
          <a:solidFill>
            <a:srgbClr val="28C2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560320" y="2880360"/>
            <a:ext cx="1527048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2000"/>
              </a:lnSpc>
              <a:spcAft>
                <a:spcPts val="100"/>
              </a:spcAft>
            </a:pPr>
            <a:r>
              <a:rPr sz="1200" b="1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Session 2</a:t>
            </a:r>
          </a:p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AI图像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97680" y="2880360"/>
            <a:ext cx="1709928" cy="868680"/>
          </a:xfrm>
          <a:prstGeom prst="roundRect">
            <a:avLst>
              <a:gd name="adj" fmla="val 8000"/>
            </a:avLst>
          </a:prstGeom>
          <a:solidFill>
            <a:srgbClr val="28C2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89120" y="2880360"/>
            <a:ext cx="1527048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2000"/>
              </a:lnSpc>
              <a:spcAft>
                <a:spcPts val="100"/>
              </a:spcAft>
            </a:pPr>
            <a:r>
              <a:rPr sz="1200" b="1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Session 3</a:t>
            </a:r>
          </a:p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数字人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26480" y="2880360"/>
            <a:ext cx="1709928" cy="868680"/>
          </a:xfrm>
          <a:prstGeom prst="roundRect">
            <a:avLst>
              <a:gd name="adj" fmla="val 8000"/>
            </a:avLst>
          </a:prstGeom>
          <a:solidFill>
            <a:srgbClr val="28C2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17920" y="2880360"/>
            <a:ext cx="1527048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2000"/>
              </a:lnSpc>
              <a:spcAft>
                <a:spcPts val="100"/>
              </a:spcAft>
            </a:pPr>
            <a:r>
              <a:rPr sz="1200" b="1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Session 4</a:t>
            </a:r>
          </a:p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AI PPT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955280" y="2880360"/>
            <a:ext cx="1709928" cy="868680"/>
          </a:xfrm>
          <a:prstGeom prst="roundRect">
            <a:avLst>
              <a:gd name="adj" fmla="val 8000"/>
            </a:avLst>
          </a:prstGeom>
          <a:solidFill>
            <a:srgbClr val="28C2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0" y="2880360"/>
            <a:ext cx="1527048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2000"/>
              </a:lnSpc>
              <a:spcAft>
                <a:spcPts val="100"/>
              </a:spcAft>
            </a:pPr>
            <a:r>
              <a:rPr sz="1200" b="1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Session 5</a:t>
            </a:r>
          </a:p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AI音乐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784080" y="2880360"/>
            <a:ext cx="1709928" cy="868680"/>
          </a:xfrm>
          <a:prstGeom prst="roundRect">
            <a:avLst>
              <a:gd name="adj" fmla="val 8000"/>
            </a:avLst>
          </a:prstGeom>
          <a:solidFill>
            <a:srgbClr val="28C2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875520" y="2880360"/>
            <a:ext cx="1527048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2000"/>
              </a:lnSpc>
              <a:spcAft>
                <a:spcPts val="100"/>
              </a:spcAft>
            </a:pPr>
            <a:r>
              <a:rPr sz="1200" b="1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Session 6</a:t>
            </a:r>
          </a:p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AI影片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" y="3977639"/>
            <a:ext cx="3538728" cy="868680"/>
          </a:xfrm>
          <a:prstGeom prst="roundRect">
            <a:avLst>
              <a:gd name="adj" fmla="val 8000"/>
            </a:avLst>
          </a:prstGeom>
          <a:solidFill>
            <a:srgbClr val="0F75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1520" y="3977639"/>
            <a:ext cx="3355848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2000"/>
              </a:lnSpc>
              <a:spcAft>
                <a:spcPts val="100"/>
              </a:spcAft>
            </a:pPr>
            <a:r>
              <a:rPr sz="1200" b="1" i="0">
                <a:solidFill>
                  <a:srgbClr val="FFFFFF"/>
                </a:solidFill>
                <a:latin typeface="Arial"/>
                <a:ea typeface="PingFang SC"/>
                <a:cs typeface="PingFang SC"/>
              </a:rPr>
              <a:t>Session 7</a:t>
            </a:r>
          </a:p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Arial"/>
                <a:ea typeface="PingFang SC"/>
                <a:cs typeface="PingFang SC"/>
              </a:rPr>
              <a:t>内容矩阵·大脑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297680" y="3977639"/>
            <a:ext cx="3538728" cy="868680"/>
          </a:xfrm>
          <a:prstGeom prst="roundRect">
            <a:avLst>
              <a:gd name="adj" fmla="val 8000"/>
            </a:avLst>
          </a:prstGeom>
          <a:solidFill>
            <a:srgbClr val="0F75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389120" y="3977639"/>
            <a:ext cx="3355848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2000"/>
              </a:lnSpc>
              <a:spcAft>
                <a:spcPts val="100"/>
              </a:spcAft>
            </a:pPr>
            <a:r>
              <a:rPr sz="1200" b="1" i="0">
                <a:solidFill>
                  <a:srgbClr val="FFFFFF"/>
                </a:solidFill>
                <a:latin typeface="Arial"/>
                <a:ea typeface="PingFang SC"/>
                <a:cs typeface="PingFang SC"/>
              </a:rPr>
              <a:t>Session 8</a:t>
            </a:r>
          </a:p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Arial"/>
                <a:ea typeface="PingFang SC"/>
                <a:cs typeface="PingFang SC"/>
              </a:rPr>
              <a:t>图文生产线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955280" y="3977639"/>
            <a:ext cx="3538728" cy="868680"/>
          </a:xfrm>
          <a:prstGeom prst="roundRect">
            <a:avLst>
              <a:gd name="adj" fmla="val 8000"/>
            </a:avLst>
          </a:prstGeom>
          <a:solidFill>
            <a:srgbClr val="0F75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046720" y="3977639"/>
            <a:ext cx="3355848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2000"/>
              </a:lnSpc>
              <a:spcAft>
                <a:spcPts val="100"/>
              </a:spcAft>
            </a:pPr>
            <a:r>
              <a:rPr sz="1200" b="1" i="0">
                <a:solidFill>
                  <a:srgbClr val="FFFFFF"/>
                </a:solidFill>
                <a:latin typeface="Arial"/>
                <a:ea typeface="PingFang SC"/>
                <a:cs typeface="PingFang SC"/>
              </a:rPr>
              <a:t>Session 9</a:t>
            </a:r>
          </a:p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Arial"/>
                <a:ea typeface="PingFang SC"/>
                <a:cs typeface="PingFang SC"/>
              </a:rPr>
              <a:t>视频生产线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40080" y="5074920"/>
            <a:ext cx="10881360" cy="914400"/>
          </a:xfrm>
          <a:prstGeom prst="roundRect">
            <a:avLst>
              <a:gd name="adj" fmla="val 8000"/>
            </a:avLst>
          </a:prstGeom>
          <a:solidFill>
            <a:srgbClr val="1422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31520" y="5074920"/>
            <a:ext cx="1069848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2000"/>
              </a:lnSpc>
              <a:spcAft>
                <a:spcPts val="100"/>
              </a:spcAft>
            </a:pPr>
            <a:r>
              <a:rPr sz="1300" b="1" i="0">
                <a:solidFill>
                  <a:srgbClr val="FFFFFF"/>
                </a:solidFill>
                <a:latin typeface="Arial"/>
                <a:ea typeface="PingFang SC"/>
                <a:cs typeface="PingFang SC"/>
              </a:rPr>
              <a:t>Session 10</a:t>
            </a:r>
          </a:p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300" b="0" i="0">
                <a:solidFill>
                  <a:srgbClr val="FFFFFF"/>
                </a:solidFill>
                <a:latin typeface="Arial"/>
                <a:ea typeface="PingFang SC"/>
                <a:cs typeface="PingFang SC"/>
              </a:rPr>
              <a:t>自动化 + 串成系统  →  🎓 结课：你自己的一站式系统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2920" y="6419088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900" b="0" i="0">
                <a:solidFill>
                  <a:srgbClr val="5B6B7A"/>
                </a:solidFill>
                <a:latin typeface="Arial"/>
                <a:ea typeface="PingFang SC"/>
                <a:cs typeface="PingFang SC"/>
              </a:rPr>
              <a:t>SUMA College · AI 内容营销系统 线下实操课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881360" y="6419088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2000"/>
              </a:lnSpc>
              <a:spcAft>
                <a:spcPts val="600"/>
              </a:spcAft>
            </a:pPr>
            <a:r>
              <a:rPr sz="900" b="0" i="0">
                <a:solidFill>
                  <a:srgbClr val="5B6B7A"/>
                </a:solidFill>
                <a:latin typeface="Arial"/>
                <a:ea typeface="PingFang SC"/>
                <a:cs typeface="PingFang SC"/>
              </a:rPr>
              <a:t>10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8C2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400" b="1" i="0" spc="300">
                <a:solidFill>
                  <a:srgbClr val="0F75BC"/>
                </a:solidFill>
                <a:latin typeface="Arial"/>
                <a:ea typeface="PingFang SC"/>
                <a:cs typeface="PingFang SC"/>
              </a:rPr>
              <a:t>HOW · 每一节长什么样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86868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3000" b="1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每个 Session 固定 4 块 —— 学完就有产物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03120"/>
            <a:ext cx="2697480" cy="2377440"/>
          </a:xfrm>
          <a:prstGeom prst="roundRect">
            <a:avLst>
              <a:gd name="adj" fmla="val 8000"/>
            </a:avLst>
          </a:prstGeom>
          <a:solidFill>
            <a:srgbClr val="E3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96112" y="2468880"/>
            <a:ext cx="2185416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1200"/>
              </a:spcAft>
            </a:pPr>
            <a:r>
              <a:rPr sz="2000" b="1" i="0">
                <a:solidFill>
                  <a:srgbClr val="0F75BC"/>
                </a:solidFill>
                <a:latin typeface="Arial"/>
                <a:ea typeface="PingFang SC"/>
                <a:cs typeface="PingFang SC"/>
              </a:rPr>
              <a:t>🎯 本节目标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600" b="0" i="0">
                <a:solidFill>
                  <a:srgbClr val="5B6B7A"/>
                </a:solidFill>
                <a:latin typeface="Arial"/>
                <a:ea typeface="PingFang SC"/>
                <a:cs typeface="PingFang SC"/>
              </a:rPr>
              <a:t>学完能做到什么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520440" y="2103120"/>
            <a:ext cx="2697480" cy="2377440"/>
          </a:xfrm>
          <a:prstGeom prst="roundRect">
            <a:avLst>
              <a:gd name="adj" fmla="val 8000"/>
            </a:avLst>
          </a:prstGeom>
          <a:solidFill>
            <a:srgbClr val="E3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776472" y="2468880"/>
            <a:ext cx="2185416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1200"/>
              </a:spcAft>
            </a:pPr>
            <a:r>
              <a:rPr sz="2000" b="1" i="0">
                <a:solidFill>
                  <a:srgbClr val="0F75BC"/>
                </a:solidFill>
                <a:latin typeface="Arial"/>
                <a:ea typeface="PingFang SC"/>
                <a:cs typeface="PingFang SC"/>
              </a:rPr>
              <a:t>📦 学 / 读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600" b="0" i="0">
                <a:solidFill>
                  <a:srgbClr val="5B6B7A"/>
                </a:solidFill>
                <a:latin typeface="Arial"/>
                <a:ea typeface="PingFang SC"/>
                <a:cs typeface="PingFang SC"/>
              </a:rPr>
              <a:t>装哪个 skill、读哪份 md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0" y="2103120"/>
            <a:ext cx="2697480" cy="2377440"/>
          </a:xfrm>
          <a:prstGeom prst="roundRect">
            <a:avLst>
              <a:gd name="adj" fmla="val 8000"/>
            </a:avLst>
          </a:prstGeom>
          <a:solidFill>
            <a:srgbClr val="E3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56832" y="2468880"/>
            <a:ext cx="2185416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1200"/>
              </a:spcAft>
            </a:pPr>
            <a:r>
              <a:rPr sz="2000" b="1" i="0">
                <a:solidFill>
                  <a:srgbClr val="0F75BC"/>
                </a:solidFill>
                <a:latin typeface="Arial"/>
                <a:ea typeface="PingFang SC"/>
                <a:cs typeface="PingFang SC"/>
              </a:rPr>
              <a:t>🛠️ 当场动手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600" b="0" i="0">
                <a:solidFill>
                  <a:srgbClr val="5B6B7A"/>
                </a:solidFill>
                <a:latin typeface="Arial"/>
                <a:ea typeface="PingFang SC"/>
                <a:cs typeface="PingFang SC"/>
              </a:rPr>
              <a:t>线下现场做一遍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281160" y="2103120"/>
            <a:ext cx="2697480" cy="2377440"/>
          </a:xfrm>
          <a:prstGeom prst="roundRect">
            <a:avLst>
              <a:gd name="adj" fmla="val 8000"/>
            </a:avLst>
          </a:prstGeom>
          <a:solidFill>
            <a:srgbClr val="E3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537192" y="2468880"/>
            <a:ext cx="2185416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1200"/>
              </a:spcAft>
            </a:pPr>
            <a:r>
              <a:rPr sz="2000" b="1" i="0">
                <a:solidFill>
                  <a:srgbClr val="0F75BC"/>
                </a:solidFill>
                <a:latin typeface="Arial"/>
                <a:ea typeface="PingFang SC"/>
                <a:cs typeface="PingFang SC"/>
              </a:rPr>
              <a:t>🎁 交付物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600" b="0" i="0">
                <a:solidFill>
                  <a:srgbClr val="5B6B7A"/>
                </a:solidFill>
                <a:latin typeface="Arial"/>
                <a:ea typeface="PingFang SC"/>
                <a:cs typeface="PingFang SC"/>
              </a:rPr>
              <a:t>走出教室多一件真东西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4892040"/>
            <a:ext cx="10881360" cy="1051560"/>
          </a:xfrm>
          <a:prstGeom prst="roundRect">
            <a:avLst>
              <a:gd name="adj" fmla="val 8000"/>
            </a:avLst>
          </a:prstGeom>
          <a:solidFill>
            <a:srgbClr val="FCB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5029200"/>
            <a:ext cx="1033272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2400" b="1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铁律：一次一步 · 先跑通 1 条再放量（One before many）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6419088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900" b="0" i="0">
                <a:solidFill>
                  <a:srgbClr val="5B6B7A"/>
                </a:solidFill>
                <a:latin typeface="Arial"/>
                <a:ea typeface="PingFang SC"/>
                <a:cs typeface="PingFang SC"/>
              </a:rPr>
              <a:t>SUMA College · AI 内容营销系统 线下实操课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881360" y="6419088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2000"/>
              </a:lnSpc>
              <a:spcAft>
                <a:spcPts val="600"/>
              </a:spcAft>
            </a:pPr>
            <a:r>
              <a:rPr sz="900" b="0" i="0">
                <a:solidFill>
                  <a:srgbClr val="5B6B7A"/>
                </a:solidFill>
                <a:latin typeface="Arial"/>
                <a:ea typeface="PingFang SC"/>
                <a:cs typeface="PingFang SC"/>
              </a:rPr>
              <a:t>11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FCB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45720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400" b="1" i="0" spc="300">
                <a:solidFill>
                  <a:srgbClr val="FCB040"/>
                </a:solidFill>
                <a:latin typeface="Arial"/>
                <a:ea typeface="PingFang SC"/>
                <a:cs typeface="PingFang SC"/>
              </a:rPr>
              <a:t>SESSION 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8229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3200" b="1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开课 · 喂地基（Feed）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74519"/>
            <a:ext cx="3538728" cy="3200400"/>
          </a:xfrm>
          <a:prstGeom prst="roundRect">
            <a:avLst>
              <a:gd name="adj" fmla="val 8000"/>
            </a:avLst>
          </a:prstGeom>
          <a:solidFill>
            <a:srgbClr val="F4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874519"/>
            <a:ext cx="3538728" cy="109728"/>
          </a:xfrm>
          <a:prstGeom prst="rect">
            <a:avLst/>
          </a:prstGeom>
          <a:solidFill>
            <a:srgbClr val="0F75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2194559"/>
            <a:ext cx="3026664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1000"/>
              </a:spcAft>
            </a:pPr>
            <a:r>
              <a:rPr sz="1600" b="1" i="0">
                <a:solidFill>
                  <a:srgbClr val="0F75BC"/>
                </a:solidFill>
                <a:latin typeface="Arial"/>
                <a:ea typeface="PingFang SC"/>
                <a:cs typeface="PingFang SC"/>
              </a:rPr>
              <a:t>WHAT · 学什么</a:t>
            </a:r>
          </a:p>
          <a:p>
            <a:pPr algn="l">
              <a:lnSpc>
                <a:spcPct val="122000"/>
              </a:lnSpc>
              <a:spcAft>
                <a:spcPts val="800"/>
              </a:spcAft>
            </a:pPr>
            <a:r>
              <a:rPr sz="15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装记忆系统 + ai-content-factory 总览 skill</a:t>
            </a:r>
          </a:p>
          <a:p>
            <a:pPr algn="l">
              <a:lnSpc>
                <a:spcPct val="122000"/>
              </a:lnSpc>
              <a:spcAft>
                <a:spcPts val="800"/>
              </a:spcAft>
            </a:pPr>
            <a:r>
              <a:rPr sz="15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读 SETUP 详细清单 / TEMPLATE 填空</a:t>
            </a:r>
          </a:p>
          <a:p>
            <a:pPr algn="l">
              <a:lnSpc>
                <a:spcPct val="122000"/>
              </a:lnSpc>
              <a:spcAft>
                <a:spcPts val="800"/>
              </a:spcAft>
            </a:pPr>
            <a:r>
              <a:rPr sz="15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连 Notion / Higgsfield / Suno 账号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06824" y="1874519"/>
            <a:ext cx="3538728" cy="3200400"/>
          </a:xfrm>
          <a:prstGeom prst="roundRect">
            <a:avLst>
              <a:gd name="adj" fmla="val 8000"/>
            </a:avLst>
          </a:prstGeom>
          <a:solidFill>
            <a:srgbClr val="F4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06824" y="1874519"/>
            <a:ext cx="3538728" cy="109728"/>
          </a:xfrm>
          <a:prstGeom prst="rect">
            <a:avLst/>
          </a:prstGeom>
          <a:solidFill>
            <a:srgbClr val="FCB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62856" y="2194559"/>
            <a:ext cx="3026664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1000"/>
              </a:spcAft>
            </a:pPr>
            <a:r>
              <a:rPr sz="1600" b="1" i="0">
                <a:solidFill>
                  <a:srgbClr val="FCB040"/>
                </a:solidFill>
                <a:latin typeface="Arial"/>
                <a:ea typeface="PingFang SC"/>
                <a:cs typeface="PingFang SC"/>
              </a:rPr>
              <a:t>WHY · 为什么</a:t>
            </a:r>
          </a:p>
          <a:p>
            <a:pPr algn="l">
              <a:lnSpc>
                <a:spcPct val="122000"/>
              </a:lnSpc>
              <a:spcAft>
                <a:spcPts val="800"/>
              </a:spcAft>
            </a:pPr>
            <a:r>
              <a:rPr sz="15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系统准不准，全看地基喂得对不对</a:t>
            </a:r>
          </a:p>
          <a:p>
            <a:pPr algn="l">
              <a:lnSpc>
                <a:spcPct val="122000"/>
              </a:lnSpc>
              <a:spcAft>
                <a:spcPts val="800"/>
              </a:spcAft>
            </a:pPr>
            <a:r>
              <a:rPr sz="15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品牌名、受众、品牌色、合规红线</a:t>
            </a:r>
          </a:p>
          <a:p>
            <a:pPr algn="l">
              <a:lnSpc>
                <a:spcPct val="122000"/>
              </a:lnSpc>
              <a:spcAft>
                <a:spcPts val="800"/>
              </a:spcAft>
            </a:pPr>
            <a:r>
              <a:rPr sz="15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喂进去，之后每一步自动遵守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973568" y="1874519"/>
            <a:ext cx="3538728" cy="3200400"/>
          </a:xfrm>
          <a:prstGeom prst="roundRect">
            <a:avLst>
              <a:gd name="adj" fmla="val 8000"/>
            </a:avLst>
          </a:prstGeom>
          <a:solidFill>
            <a:srgbClr val="F4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973568" y="1874519"/>
            <a:ext cx="3538728" cy="109728"/>
          </a:xfrm>
          <a:prstGeom prst="rect">
            <a:avLst/>
          </a:prstGeom>
          <a:solidFill>
            <a:srgbClr val="28C2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0" y="2194559"/>
            <a:ext cx="3026664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1000"/>
              </a:spcAft>
            </a:pPr>
            <a:r>
              <a:rPr sz="1600" b="1" i="0">
                <a:solidFill>
                  <a:srgbClr val="28C2E7"/>
                </a:solidFill>
                <a:latin typeface="Arial"/>
                <a:ea typeface="PingFang SC"/>
                <a:cs typeface="PingFang SC"/>
              </a:rPr>
              <a:t>HOW · 怎么做</a:t>
            </a:r>
          </a:p>
          <a:p>
            <a:pPr algn="l">
              <a:lnSpc>
                <a:spcPct val="122000"/>
              </a:lnSpc>
              <a:spcAft>
                <a:spcPts val="800"/>
              </a:spcAft>
            </a:pPr>
            <a:r>
              <a:rPr sz="15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把品牌资料写进 memory</a:t>
            </a:r>
          </a:p>
          <a:p>
            <a:pPr algn="l">
              <a:lnSpc>
                <a:spcPct val="122000"/>
              </a:lnSpc>
              <a:spcAft>
                <a:spcPts val="800"/>
              </a:spcAft>
            </a:pPr>
            <a:r>
              <a:rPr sz="15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把 logo（浅底/深底）、品牌色下载好</a:t>
            </a:r>
          </a:p>
          <a:p>
            <a:pPr algn="l">
              <a:lnSpc>
                <a:spcPct val="122000"/>
              </a:lnSpc>
              <a:spcAft>
                <a:spcPts val="800"/>
              </a:spcAft>
            </a:pPr>
            <a:r>
              <a:rPr sz="15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把账号一个个连上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5349240"/>
            <a:ext cx="10881360" cy="822960"/>
          </a:xfrm>
          <a:prstGeom prst="roundRect">
            <a:avLst>
              <a:gd name="adj" fmla="val 8000"/>
            </a:avLst>
          </a:prstGeom>
          <a:solidFill>
            <a:srgbClr val="FCB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5440680"/>
            <a:ext cx="1033272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2000" b="1" i="0">
                <a:solidFill>
                  <a:srgbClr val="FFFFFF"/>
                </a:solidFill>
                <a:latin typeface="Arial"/>
                <a:ea typeface="PingFang SC"/>
                <a:cs typeface="PingFang SC"/>
              </a:rPr>
              <a:t>🎁 走出教室：你的品牌地基 memory + 账号全连好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6419088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900" b="0" i="0">
                <a:solidFill>
                  <a:srgbClr val="5B6B7A"/>
                </a:solidFill>
                <a:latin typeface="Arial"/>
                <a:ea typeface="PingFang SC"/>
                <a:cs typeface="PingFang SC"/>
              </a:rPr>
              <a:t>SUMA College · AI 内容营销系统 线下实操课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881360" y="6419088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2000"/>
              </a:lnSpc>
              <a:spcAft>
                <a:spcPts val="600"/>
              </a:spcAft>
            </a:pPr>
            <a:r>
              <a:rPr sz="900" b="0" i="0">
                <a:solidFill>
                  <a:srgbClr val="5B6B7A"/>
                </a:solidFill>
                <a:latin typeface="Arial"/>
                <a:ea typeface="PingFang SC"/>
                <a:cs typeface="PingFang SC"/>
              </a:rPr>
              <a:t>12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8C2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45720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400" b="1" i="0" spc="300">
                <a:solidFill>
                  <a:srgbClr val="0F75BC"/>
                </a:solidFill>
                <a:latin typeface="Arial"/>
                <a:ea typeface="PingFang SC"/>
                <a:cs typeface="PingFang SC"/>
              </a:rPr>
              <a:t>SESSION 1–6 · 六个 AI 技能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8229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3000" b="1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一节学一个技能，当场做出一件产物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783080"/>
            <a:ext cx="10789920" cy="731520"/>
          </a:xfrm>
          <a:prstGeom prst="rect">
            <a:avLst/>
          </a:prstGeom>
          <a:solidFill>
            <a:srgbClr val="0F75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1929384"/>
            <a:ext cx="640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500" b="1" i="0">
                <a:solidFill>
                  <a:srgbClr val="FFFFFF"/>
                </a:solidFill>
                <a:latin typeface="Arial"/>
                <a:ea typeface="PingFang SC"/>
                <a:cs typeface="PingFang SC"/>
              </a:rPr>
              <a:t>#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72768" y="1929384"/>
            <a:ext cx="2468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500" b="1" i="0">
                <a:solidFill>
                  <a:srgbClr val="FFFFFF"/>
                </a:solidFill>
                <a:latin typeface="Arial"/>
                <a:ea typeface="PingFang SC"/>
                <a:cs typeface="PingFang SC"/>
              </a:rPr>
              <a:t>技能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24528" y="1929384"/>
            <a:ext cx="4937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500" b="1" i="0">
                <a:solidFill>
                  <a:srgbClr val="FFFFFF"/>
                </a:solidFill>
                <a:latin typeface="Arial"/>
                <a:ea typeface="PingFang SC"/>
                <a:cs typeface="PingFang SC"/>
              </a:rPr>
              <a:t>当场动手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45168" y="1929384"/>
            <a:ext cx="2651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500" b="1" i="0">
                <a:solidFill>
                  <a:srgbClr val="FFFFFF"/>
                </a:solidFill>
                <a:latin typeface="Arial"/>
                <a:ea typeface="PingFang SC"/>
                <a:cs typeface="PingFang SC"/>
              </a:rPr>
              <a:t>🎁 交付物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2514600"/>
            <a:ext cx="10789920" cy="731520"/>
          </a:xfrm>
          <a:prstGeom prst="rect">
            <a:avLst/>
          </a:prstGeom>
          <a:solidFill>
            <a:srgbClr val="F4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9808" y="2633472"/>
            <a:ext cx="6400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72768" y="2633472"/>
            <a:ext cx="24688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 i="0">
                <a:solidFill>
                  <a:srgbClr val="0F75BC"/>
                </a:solidFill>
                <a:latin typeface="Arial"/>
                <a:ea typeface="PingFang SC"/>
                <a:cs typeface="PingFang SC"/>
              </a:rPr>
              <a:t>✍️ AI 文案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24528" y="2633472"/>
            <a:ext cx="49377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分层框架(ToFu/MoFu/BoFu)+8钩子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45168" y="2633472"/>
            <a:ext cx="26517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 i="0">
                <a:solidFill>
                  <a:srgbClr val="FCB040"/>
                </a:solidFill>
                <a:latin typeface="Arial"/>
                <a:ea typeface="PingFang SC"/>
                <a:cs typeface="PingFang SC"/>
              </a:rPr>
              <a:t>3 条广告文案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3246120"/>
            <a:ext cx="10789920" cy="7315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9808" y="3364992"/>
            <a:ext cx="6400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72768" y="3364992"/>
            <a:ext cx="24688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 i="0">
                <a:solidFill>
                  <a:srgbClr val="0F75BC"/>
                </a:solidFill>
                <a:latin typeface="Arial"/>
                <a:ea typeface="PingFang SC"/>
                <a:cs typeface="PingFang SC"/>
              </a:rPr>
              <a:t>🖼️ AI 图像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24528" y="3364992"/>
            <a:ext cx="49377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场景 prompt → 出图 → 合 logo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345168" y="3364992"/>
            <a:ext cx="26517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 i="0">
                <a:solidFill>
                  <a:srgbClr val="FCB040"/>
                </a:solidFill>
                <a:latin typeface="Arial"/>
                <a:ea typeface="PingFang SC"/>
                <a:cs typeface="PingFang SC"/>
              </a:rPr>
              <a:t>1 张成品海报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" y="3977640"/>
            <a:ext cx="10789920" cy="731520"/>
          </a:xfrm>
          <a:prstGeom prst="rect">
            <a:avLst/>
          </a:prstGeom>
          <a:solidFill>
            <a:srgbClr val="F4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9808" y="4096512"/>
            <a:ext cx="6400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72768" y="4096512"/>
            <a:ext cx="24688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 i="0">
                <a:solidFill>
                  <a:srgbClr val="0F75BC"/>
                </a:solidFill>
                <a:latin typeface="Arial"/>
                <a:ea typeface="PingFang SC"/>
                <a:cs typeface="PingFang SC"/>
              </a:rPr>
              <a:t>🧑‍💼 AI 数字人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24528" y="4096512"/>
            <a:ext cx="49377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锁脸参考图 → 数字主播口播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45168" y="4096512"/>
            <a:ext cx="26517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 i="0">
                <a:solidFill>
                  <a:srgbClr val="FCB040"/>
                </a:solidFill>
                <a:latin typeface="Arial"/>
                <a:ea typeface="PingFang SC"/>
                <a:cs typeface="PingFang SC"/>
              </a:rPr>
              <a:t>你的数字主播 + 口播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0080" y="4709160"/>
            <a:ext cx="10789920" cy="7315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49808" y="4828032"/>
            <a:ext cx="6400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72768" y="4828032"/>
            <a:ext cx="24688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 i="0">
                <a:solidFill>
                  <a:srgbClr val="0F75BC"/>
                </a:solidFill>
                <a:latin typeface="Arial"/>
                <a:ea typeface="PingFang SC"/>
                <a:cs typeface="PingFang SC"/>
              </a:rPr>
              <a:t>📊 AI PPT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24528" y="4828032"/>
            <a:ext cx="49377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内容结构 → 品牌化卖点页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345168" y="4828032"/>
            <a:ext cx="26517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 i="0">
                <a:solidFill>
                  <a:srgbClr val="FCB040"/>
                </a:solidFill>
                <a:latin typeface="Arial"/>
                <a:ea typeface="PingFang SC"/>
                <a:cs typeface="PingFang SC"/>
              </a:rPr>
              <a:t>1 份卖点 PPT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40080" y="5440680"/>
            <a:ext cx="10789920" cy="731520"/>
          </a:xfrm>
          <a:prstGeom prst="rect">
            <a:avLst/>
          </a:prstGeom>
          <a:solidFill>
            <a:srgbClr val="F4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49808" y="5559552"/>
            <a:ext cx="6400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572768" y="5559552"/>
            <a:ext cx="24688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 i="0">
                <a:solidFill>
                  <a:srgbClr val="0F75BC"/>
                </a:solidFill>
                <a:latin typeface="Arial"/>
                <a:ea typeface="PingFang SC"/>
                <a:cs typeface="PingFang SC"/>
              </a:rPr>
              <a:t>🎵 AI 音乐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224528" y="5559552"/>
            <a:ext cx="49377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按情绪 prompt Suno 出配乐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345168" y="5559552"/>
            <a:ext cx="26517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 i="0">
                <a:solidFill>
                  <a:srgbClr val="FCB040"/>
                </a:solidFill>
                <a:latin typeface="Arial"/>
                <a:ea typeface="PingFang SC"/>
                <a:cs typeface="PingFang SC"/>
              </a:rPr>
              <a:t>1 段可商用背景乐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40080" y="6172200"/>
            <a:ext cx="10789920" cy="7315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49808" y="6291072"/>
            <a:ext cx="6400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572768" y="6291072"/>
            <a:ext cx="24688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 i="0">
                <a:solidFill>
                  <a:srgbClr val="0F75BC"/>
                </a:solidFill>
                <a:latin typeface="Arial"/>
                <a:ea typeface="PingFang SC"/>
                <a:cs typeface="PingFang SC"/>
              </a:rPr>
              <a:t>🎬 AI 影片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224528" y="6291072"/>
            <a:ext cx="49377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8 分镜脚本→锁人物→逐镜→拼接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345168" y="6291072"/>
            <a:ext cx="26517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 i="0">
                <a:solidFill>
                  <a:srgbClr val="FCB040"/>
                </a:solidFill>
                <a:latin typeface="Arial"/>
                <a:ea typeface="PingFang SC"/>
                <a:cs typeface="PingFang SC"/>
              </a:rPr>
              <a:t>1 支约 90 秒短视频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02920" y="6419088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900" b="0" i="0">
                <a:solidFill>
                  <a:srgbClr val="5B6B7A"/>
                </a:solidFill>
                <a:latin typeface="Arial"/>
                <a:ea typeface="PingFang SC"/>
                <a:cs typeface="PingFang SC"/>
              </a:rPr>
              <a:t>SUMA College · AI 内容营销系统 线下实操课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881360" y="6419088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2000"/>
              </a:lnSpc>
              <a:spcAft>
                <a:spcPts val="600"/>
              </a:spcAft>
            </a:pPr>
            <a:r>
              <a:rPr sz="900" b="0" i="0">
                <a:solidFill>
                  <a:srgbClr val="5B6B7A"/>
                </a:solidFill>
                <a:latin typeface="Arial"/>
                <a:ea typeface="PingFang SC"/>
                <a:cs typeface="PingFang SC"/>
              </a:rPr>
              <a:t>13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F75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400" b="1" i="0" spc="300">
                <a:solidFill>
                  <a:srgbClr val="0F75BC"/>
                </a:solidFill>
                <a:latin typeface="Arial"/>
                <a:ea typeface="PingFang SC"/>
                <a:cs typeface="PingFang SC"/>
              </a:rPr>
              <a:t>SESSION 7–9 · 串成生产线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86868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3000" b="1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把散件接成能重复的流水线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965960"/>
            <a:ext cx="10881360" cy="1280160"/>
          </a:xfrm>
          <a:prstGeom prst="roundRect">
            <a:avLst>
              <a:gd name="adj" fmla="val 8000"/>
            </a:avLst>
          </a:prstGeom>
          <a:solidFill>
            <a:srgbClr val="F4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965960"/>
            <a:ext cx="146304" cy="1280160"/>
          </a:xfrm>
          <a:prstGeom prst="rect">
            <a:avLst/>
          </a:prstGeom>
          <a:solidFill>
            <a:srgbClr val="28C2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2148840"/>
            <a:ext cx="21945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500" b="1" i="0">
                <a:solidFill>
                  <a:srgbClr val="5B6B7A"/>
                </a:solidFill>
                <a:latin typeface="Arial"/>
                <a:ea typeface="PingFang SC"/>
                <a:cs typeface="PingFang SC"/>
              </a:rPr>
              <a:t>Session 7</a:t>
            </a:r>
          </a:p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900" b="1" i="0">
                <a:solidFill>
                  <a:srgbClr val="0F75BC"/>
                </a:solidFill>
                <a:latin typeface="Arial"/>
                <a:ea typeface="PingFang SC"/>
                <a:cs typeface="PingFang SC"/>
              </a:rPr>
              <a:t>🧠 内容矩阵（大脑）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91840" y="2286000"/>
            <a:ext cx="4846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建 Notion 数据库：受众 × 漏斗 × Hook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21040" y="2286000"/>
            <a:ext cx="30175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500" b="1" i="0">
                <a:solidFill>
                  <a:srgbClr val="FCB040"/>
                </a:solidFill>
                <a:latin typeface="Arial"/>
                <a:ea typeface="PingFang SC"/>
                <a:cs typeface="PingFang SC"/>
              </a:rPr>
              <a:t>🎁 你的内容矩阵表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447288"/>
            <a:ext cx="10881360" cy="1280160"/>
          </a:xfrm>
          <a:prstGeom prst="roundRect">
            <a:avLst>
              <a:gd name="adj" fmla="val 8000"/>
            </a:avLst>
          </a:prstGeom>
          <a:solidFill>
            <a:srgbClr val="F4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" y="3447288"/>
            <a:ext cx="146304" cy="1280160"/>
          </a:xfrm>
          <a:prstGeom prst="rect">
            <a:avLst/>
          </a:prstGeom>
          <a:solidFill>
            <a:srgbClr val="28C2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3630168"/>
            <a:ext cx="21945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500" b="1" i="0">
                <a:solidFill>
                  <a:srgbClr val="5B6B7A"/>
                </a:solidFill>
                <a:latin typeface="Arial"/>
                <a:ea typeface="PingFang SC"/>
                <a:cs typeface="PingFang SC"/>
              </a:rPr>
              <a:t>Session 8</a:t>
            </a:r>
          </a:p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900" b="1" i="0">
                <a:solidFill>
                  <a:srgbClr val="0F75BC"/>
                </a:solidFill>
                <a:latin typeface="Arial"/>
                <a:ea typeface="PingFang SC"/>
                <a:cs typeface="PingFang SC"/>
              </a:rPr>
              <a:t>📸 图文生产线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91840" y="3767328"/>
            <a:ext cx="4846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文案→图像→logo→Notion→Drive 跑通 1 条再复制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21040" y="3767328"/>
            <a:ext cx="30175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500" b="1" i="0">
                <a:solidFill>
                  <a:srgbClr val="FCB040"/>
                </a:solidFill>
                <a:latin typeface="Arial"/>
                <a:ea typeface="PingFang SC"/>
                <a:cs typeface="PingFang SC"/>
              </a:rPr>
              <a:t>🎁 一批图文 + 图文线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928616"/>
            <a:ext cx="10881360" cy="1280160"/>
          </a:xfrm>
          <a:prstGeom prst="roundRect">
            <a:avLst>
              <a:gd name="adj" fmla="val 8000"/>
            </a:avLst>
          </a:prstGeom>
          <a:solidFill>
            <a:srgbClr val="F4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40080" y="4928616"/>
            <a:ext cx="146304" cy="1280160"/>
          </a:xfrm>
          <a:prstGeom prst="rect">
            <a:avLst/>
          </a:prstGeom>
          <a:solidFill>
            <a:srgbClr val="28C2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0120" y="5111496"/>
            <a:ext cx="21945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500" b="1" i="0">
                <a:solidFill>
                  <a:srgbClr val="5B6B7A"/>
                </a:solidFill>
                <a:latin typeface="Arial"/>
                <a:ea typeface="PingFang SC"/>
                <a:cs typeface="PingFang SC"/>
              </a:rPr>
              <a:t>Session 9</a:t>
            </a:r>
          </a:p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900" b="1" i="0">
                <a:solidFill>
                  <a:srgbClr val="0F75BC"/>
                </a:solidFill>
                <a:latin typeface="Arial"/>
                <a:ea typeface="PingFang SC"/>
                <a:cs typeface="PingFang SC"/>
              </a:rPr>
              <a:t>🎥 视频生产线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91840" y="5248656"/>
            <a:ext cx="4846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脚本→锁人物→逐镜→音乐→拼接 跑通再复制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21040" y="5248656"/>
            <a:ext cx="30175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500" b="1" i="0">
                <a:solidFill>
                  <a:srgbClr val="FCB040"/>
                </a:solidFill>
                <a:latin typeface="Arial"/>
                <a:ea typeface="PingFang SC"/>
                <a:cs typeface="PingFang SC"/>
              </a:rPr>
              <a:t>🎁 一批视频 + 视频线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6419088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900" b="0" i="0">
                <a:solidFill>
                  <a:srgbClr val="5B6B7A"/>
                </a:solidFill>
                <a:latin typeface="Arial"/>
                <a:ea typeface="PingFang SC"/>
                <a:cs typeface="PingFang SC"/>
              </a:rPr>
              <a:t>SUMA College · AI 内容营销系统 线下实操课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881360" y="6419088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2000"/>
              </a:lnSpc>
              <a:spcAft>
                <a:spcPts val="600"/>
              </a:spcAft>
            </a:pPr>
            <a:r>
              <a:rPr sz="900" b="0" i="0">
                <a:solidFill>
                  <a:srgbClr val="5B6B7A"/>
                </a:solidFill>
                <a:latin typeface="Arial"/>
                <a:ea typeface="PingFang SC"/>
                <a:cs typeface="PingFang SC"/>
              </a:rPr>
              <a:t>14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2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FCB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64008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400" b="1" i="0" spc="300">
                <a:solidFill>
                  <a:srgbClr val="28C2E7"/>
                </a:solidFill>
                <a:latin typeface="Arial"/>
                <a:ea typeface="PingFang SC"/>
                <a:cs typeface="PingFang SC"/>
              </a:rPr>
              <a:t>SESSION 10 · CAPSTONE 结课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05156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4000" b="1" i="0">
                <a:solidFill>
                  <a:srgbClr val="FFFFFF"/>
                </a:solidFill>
                <a:latin typeface="Arial"/>
                <a:ea typeface="PingFang SC"/>
                <a:cs typeface="PingFang SC"/>
              </a:rPr>
              <a:t>自动化 + 串成你自己的系统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28600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000" b="0" i="0">
                <a:solidFill>
                  <a:srgbClr val="E3F2F9"/>
                </a:solidFill>
                <a:latin typeface="Arial"/>
                <a:ea typeface="PingFang SC"/>
                <a:cs typeface="PingFang SC"/>
              </a:rPr>
              <a:t>把 6 个技能串成一条能自己跑的流水线：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800" b="0" i="0">
                <a:solidFill>
                  <a:srgbClr val="FFFFFF"/>
                </a:solidFill>
                <a:latin typeface="Arial"/>
                <a:ea typeface="PingFang SC"/>
                <a:cs typeface="PingFang SC"/>
              </a:rPr>
              <a:t>⚡  状态驱动 —— 标了 Proceed 才自动生产，不乱花钱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800" b="0" i="0">
                <a:solidFill>
                  <a:srgbClr val="FFFFFF"/>
                </a:solidFill>
                <a:latin typeface="Arial"/>
                <a:ea typeface="PingFang SC"/>
                <a:cs typeface="PingFang SC"/>
              </a:rPr>
              <a:t>⚡  批量放量 —— 一条跑通，复制成一百条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800" b="0" i="0">
                <a:solidFill>
                  <a:srgbClr val="FFFFFF"/>
                </a:solidFill>
                <a:latin typeface="Arial"/>
                <a:ea typeface="PingFang SC"/>
                <a:cs typeface="PingFang SC"/>
              </a:rPr>
              <a:t>⚡  push GitHub —— 每次迭代都留记录，系统会长大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5029200"/>
            <a:ext cx="10881360" cy="1097280"/>
          </a:xfrm>
          <a:prstGeom prst="roundRect">
            <a:avLst>
              <a:gd name="adj" fmla="val 8000"/>
            </a:avLst>
          </a:prstGeom>
          <a:solidFill>
            <a:srgbClr val="FCB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5138928"/>
            <a:ext cx="1033272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2100" b="1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🎓 交付：你自己的一站式 AI 内容营销系统（可复制 · 可放量 · 有记录）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8C2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400" b="1" i="0" spc="300">
                <a:solidFill>
                  <a:srgbClr val="0F75BC"/>
                </a:solidFill>
                <a:latin typeface="Arial"/>
                <a:ea typeface="PingFang SC"/>
                <a:cs typeface="PingFang SC"/>
              </a:rPr>
              <a:t>HOW · 贯穿全课的心法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86868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3000" b="1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你是判断力，AI 是执行力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920240"/>
            <a:ext cx="5349240" cy="777240"/>
          </a:xfrm>
          <a:prstGeom prst="roundRect">
            <a:avLst>
              <a:gd name="adj" fmla="val 8000"/>
            </a:avLst>
          </a:prstGeom>
          <a:solidFill>
            <a:srgbClr val="F4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920240"/>
            <a:ext cx="49834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① 从小事切入，先跑通一个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920240"/>
            <a:ext cx="5349240" cy="777240"/>
          </a:xfrm>
          <a:prstGeom prst="roundRect">
            <a:avLst>
              <a:gd name="adj" fmla="val 8000"/>
            </a:avLst>
          </a:prstGeom>
          <a:solidFill>
            <a:srgbClr val="F4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1920240"/>
            <a:ext cx="49834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② 用真实信息喂它（越具体越准）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807208"/>
            <a:ext cx="5349240" cy="777240"/>
          </a:xfrm>
          <a:prstGeom prst="roundRect">
            <a:avLst>
              <a:gd name="adj" fmla="val 8000"/>
            </a:avLst>
          </a:prstGeom>
          <a:solidFill>
            <a:srgbClr val="F4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2807208"/>
            <a:ext cx="49834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③ 看 → 挑刺 → 纠正，别一次要完美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2807208"/>
            <a:ext cx="5349240" cy="777240"/>
          </a:xfrm>
          <a:prstGeom prst="roundRect">
            <a:avLst>
              <a:gd name="adj" fmla="val 8000"/>
            </a:avLst>
          </a:prstGeom>
          <a:solidFill>
            <a:srgbClr val="F4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0" y="2807208"/>
            <a:ext cx="49834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④ 边做边把规矩立进 memory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3694176"/>
            <a:ext cx="5349240" cy="777240"/>
          </a:xfrm>
          <a:prstGeom prst="roundRect">
            <a:avLst>
              <a:gd name="adj" fmla="val 8000"/>
            </a:avLst>
          </a:prstGeom>
          <a:solidFill>
            <a:srgbClr val="F4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694176"/>
            <a:ext cx="49834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⑤ 花钱/放量前，先点头（决策闸门）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2200" y="3694176"/>
            <a:ext cx="5349240" cy="777240"/>
          </a:xfrm>
          <a:prstGeom prst="roundRect">
            <a:avLst>
              <a:gd name="adj" fmla="val 8000"/>
            </a:avLst>
          </a:prstGeom>
          <a:solidFill>
            <a:srgbClr val="F4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0" y="3694176"/>
            <a:ext cx="49834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⑥ 先验 1 个，再放量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4581144"/>
            <a:ext cx="5349240" cy="777240"/>
          </a:xfrm>
          <a:prstGeom prst="roundRect">
            <a:avLst>
              <a:gd name="adj" fmla="val 8000"/>
            </a:avLst>
          </a:prstGeom>
          <a:solidFill>
            <a:srgbClr val="F4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4581144"/>
            <a:ext cx="49834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⑦ 体力活给 AI，判断留自己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581144"/>
            <a:ext cx="5349240" cy="777240"/>
          </a:xfrm>
          <a:prstGeom prst="roundRect">
            <a:avLst>
              <a:gd name="adj" fmla="val 8000"/>
            </a:avLst>
          </a:prstGeom>
          <a:solidFill>
            <a:srgbClr val="F4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0" y="4581144"/>
            <a:ext cx="49834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⑧ 满意的成品当范本，锁住风格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6419088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900" b="0" i="0">
                <a:solidFill>
                  <a:srgbClr val="5B6B7A"/>
                </a:solidFill>
                <a:latin typeface="Arial"/>
                <a:ea typeface="PingFang SC"/>
                <a:cs typeface="PingFang SC"/>
              </a:rPr>
              <a:t>SUMA College · AI 内容营销系统 线下实操课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881360" y="6419088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2000"/>
              </a:lnSpc>
              <a:spcAft>
                <a:spcPts val="600"/>
              </a:spcAft>
            </a:pPr>
            <a:r>
              <a:rPr sz="900" b="0" i="0">
                <a:solidFill>
                  <a:srgbClr val="5B6B7A"/>
                </a:solidFill>
                <a:latin typeface="Arial"/>
                <a:ea typeface="PingFang SC"/>
                <a:cs typeface="PingFang SC"/>
              </a:rPr>
              <a:t>16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FCB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400" b="1" i="0" spc="300">
                <a:solidFill>
                  <a:srgbClr val="FCB040"/>
                </a:solidFill>
                <a:latin typeface="Arial"/>
                <a:ea typeface="PingFang SC"/>
                <a:cs typeface="PingFang SC"/>
              </a:rPr>
              <a:t>结课那天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86868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3000" b="1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你带走的不是笔记，是一套能自己跑的系统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103120"/>
            <a:ext cx="1051560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Aft>
                <a:spcPts val="1600"/>
              </a:spcAft>
            </a:pPr>
            <a:r>
              <a:rPr sz="22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✓  一套属于你品牌的内容矩阵（Notion）</a:t>
            </a:r>
          </a:p>
          <a:p>
            <a:pPr algn="l">
              <a:lnSpc>
                <a:spcPct val="120000"/>
              </a:lnSpc>
              <a:spcAft>
                <a:spcPts val="1600"/>
              </a:spcAft>
            </a:pPr>
            <a:r>
              <a:rPr sz="22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✓  一条图文生产线 + 一条视频生产线</a:t>
            </a:r>
          </a:p>
          <a:p>
            <a:pPr algn="l">
              <a:lnSpc>
                <a:spcPct val="120000"/>
              </a:lnSpc>
              <a:spcAft>
                <a:spcPts val="1600"/>
              </a:spcAft>
            </a:pPr>
            <a:r>
              <a:rPr sz="22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✓  6 个 AI 技能的真实产物各一件</a:t>
            </a:r>
          </a:p>
          <a:p>
            <a:pPr algn="l">
              <a:lnSpc>
                <a:spcPct val="120000"/>
              </a:lnSpc>
              <a:spcAft>
                <a:spcPts val="1600"/>
              </a:spcAft>
            </a:pPr>
            <a:r>
              <a:rPr sz="22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✓  一份可放量、可自动化、可记录的系统</a:t>
            </a:r>
          </a:p>
          <a:p>
            <a:pPr algn="l">
              <a:lnSpc>
                <a:spcPct val="120000"/>
              </a:lnSpc>
              <a:spcAft>
                <a:spcPts val="1600"/>
              </a:spcAft>
            </a:pPr>
            <a:r>
              <a:rPr sz="22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✓  一套 skill + md + 口令本，回去照着继续搭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5486400"/>
            <a:ext cx="10881360" cy="685800"/>
          </a:xfrm>
          <a:prstGeom prst="roundRect">
            <a:avLst>
              <a:gd name="adj" fmla="val 8000"/>
            </a:avLst>
          </a:prstGeom>
          <a:solidFill>
            <a:srgbClr val="0F75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5559552"/>
            <a:ext cx="103327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Arial"/>
                <a:ea typeface="PingFang SC"/>
                <a:cs typeface="PingFang SC"/>
              </a:rPr>
              <a:t>—— 不是学会一个工具，是带走一整套能自己跑的系统。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19088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900" b="0" i="0">
                <a:solidFill>
                  <a:srgbClr val="5B6B7A"/>
                </a:solidFill>
                <a:latin typeface="Arial"/>
                <a:ea typeface="PingFang SC"/>
                <a:cs typeface="PingFang SC"/>
              </a:rPr>
              <a:t>SUMA College · AI 内容营销系统 线下实操课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419088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2000"/>
              </a:lnSpc>
              <a:spcAft>
                <a:spcPts val="600"/>
              </a:spcAft>
            </a:pPr>
            <a:r>
              <a:rPr sz="900" b="0" i="0">
                <a:solidFill>
                  <a:srgbClr val="5B6B7A"/>
                </a:solidFill>
                <a:latin typeface="Arial"/>
                <a:ea typeface="PingFang SC"/>
                <a:cs typeface="PingFang SC"/>
              </a:rPr>
              <a:t>17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2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56032"/>
          </a:xfrm>
          <a:prstGeom prst="rect">
            <a:avLst/>
          </a:prstGeom>
          <a:solidFill>
            <a:srgbClr val="28C2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256032"/>
            <a:ext cx="12191695" cy="91440"/>
          </a:xfrm>
          <a:prstGeom prst="rect">
            <a:avLst/>
          </a:prstGeom>
          <a:solidFill>
            <a:srgbClr val="FCB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2011680"/>
            <a:ext cx="105156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4400" b="1" i="0">
                <a:solidFill>
                  <a:srgbClr val="FFFFFF"/>
                </a:solidFill>
                <a:latin typeface="Arial"/>
                <a:ea typeface="PingFang SC"/>
                <a:cs typeface="PingFang SC"/>
              </a:rPr>
              <a:t>现在，轮到你搭自己的系统了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65760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2000" b="0" i="0">
                <a:solidFill>
                  <a:srgbClr val="E3F2F9"/>
                </a:solidFill>
                <a:latin typeface="Arial"/>
                <a:ea typeface="PingFang SC"/>
                <a:cs typeface="PingFang SC"/>
              </a:rPr>
              <a:t>线下实操课 · 一步一个 Session · 每节都当场做出成品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000" b="1" i="0">
                <a:solidFill>
                  <a:srgbClr val="FCB040"/>
                </a:solidFill>
                <a:latin typeface="Arial"/>
                <a:ea typeface="PingFang SC"/>
                <a:cs typeface="PingFang SC"/>
              </a:rPr>
              <a:t>名额有限 —— 把想学 AI 内容的自己，带进这间教室。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57784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500" b="1" i="0">
                <a:solidFill>
                  <a:srgbClr val="28C2E7"/>
                </a:solidFill>
                <a:latin typeface="Arial"/>
                <a:ea typeface="PingFang SC"/>
                <a:cs typeface="PingFang SC"/>
              </a:rPr>
              <a:t>SUMA College 特别课程【AI内容营销系统 + 线下实操课】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